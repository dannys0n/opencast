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embeddedFontLst>
    <p:embeddedFont>
      <p:font typeface="Hanken Grotesk Medium"/>
      <p:regular r:id="rId49"/>
      <p:bold r:id="rId50"/>
      <p:italic r:id="rId51"/>
      <p:boldItalic r:id="rId52"/>
    </p:embeddedFont>
    <p:embeddedFont>
      <p:font typeface="Neuton Light"/>
      <p:regular r:id="rId53"/>
      <p:bold r:id="rId54"/>
      <p:boldItalic r:id="rId55"/>
    </p:embeddedFont>
    <p:embeddedFont>
      <p:font typeface="Hanken Grotesk"/>
      <p:regular r:id="rId56"/>
      <p:bold r:id="rId57"/>
      <p:italic r:id="rId58"/>
      <p:boldItalic r:id="rId59"/>
    </p:embeddedFont>
    <p:embeddedFont>
      <p:font typeface="Hanken Grotesk SemiBold"/>
      <p:regular r:id="rId60"/>
      <p:bold r:id="rId61"/>
      <p:italic r:id="rId62"/>
      <p:boldItalic r:id="rId63"/>
    </p:embeddedFont>
    <p:embeddedFont>
      <p:font typeface="Neuton"/>
      <p:regular r:id="rId64"/>
      <p:bold r:id="rId65"/>
      <p:italic r:id="rId66"/>
    </p:embeddedFont>
    <p:embeddedFont>
      <p:font typeface="Hanken Grotesk Light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HankenGrotesk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HankenGroteskLight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HankenGroteskSemiBold-italic.fntdata"/><Relationship Id="rId61" Type="http://schemas.openxmlformats.org/officeDocument/2006/relationships/font" Target="fonts/HankenGroteskSemiBold-bold.fntdata"/><Relationship Id="rId20" Type="http://schemas.openxmlformats.org/officeDocument/2006/relationships/slide" Target="slides/slide15.xml"/><Relationship Id="rId64" Type="http://schemas.openxmlformats.org/officeDocument/2006/relationships/font" Target="fonts/Neuton-regular.fntdata"/><Relationship Id="rId63" Type="http://schemas.openxmlformats.org/officeDocument/2006/relationships/font" Target="fonts/HankenGroteskSemiBold-boldItalic.fntdata"/><Relationship Id="rId22" Type="http://schemas.openxmlformats.org/officeDocument/2006/relationships/slide" Target="slides/slide17.xml"/><Relationship Id="rId66" Type="http://schemas.openxmlformats.org/officeDocument/2006/relationships/font" Target="fonts/Neuton-italic.fntdata"/><Relationship Id="rId21" Type="http://schemas.openxmlformats.org/officeDocument/2006/relationships/slide" Target="slides/slide16.xml"/><Relationship Id="rId65" Type="http://schemas.openxmlformats.org/officeDocument/2006/relationships/font" Target="fonts/Neuton-bold.fntdata"/><Relationship Id="rId24" Type="http://schemas.openxmlformats.org/officeDocument/2006/relationships/slide" Target="slides/slide19.xml"/><Relationship Id="rId68" Type="http://schemas.openxmlformats.org/officeDocument/2006/relationships/font" Target="fonts/HankenGroteskLight-bold.fntdata"/><Relationship Id="rId23" Type="http://schemas.openxmlformats.org/officeDocument/2006/relationships/slide" Target="slides/slide18.xml"/><Relationship Id="rId67" Type="http://schemas.openxmlformats.org/officeDocument/2006/relationships/font" Target="fonts/HankenGroteskLight-regular.fntdata"/><Relationship Id="rId60" Type="http://schemas.openxmlformats.org/officeDocument/2006/relationships/font" Target="fonts/HankenGroteskSemiBold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HankenGroteskLight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HankenGroteskMedium-italic.fntdata"/><Relationship Id="rId50" Type="http://schemas.openxmlformats.org/officeDocument/2006/relationships/font" Target="fonts/HankenGroteskMedium-bold.fntdata"/><Relationship Id="rId53" Type="http://schemas.openxmlformats.org/officeDocument/2006/relationships/font" Target="fonts/NeutonLight-regular.fntdata"/><Relationship Id="rId52" Type="http://schemas.openxmlformats.org/officeDocument/2006/relationships/font" Target="fonts/HankenGroteskMedium-boldItalic.fntdata"/><Relationship Id="rId11" Type="http://schemas.openxmlformats.org/officeDocument/2006/relationships/slide" Target="slides/slide6.xml"/><Relationship Id="rId55" Type="http://schemas.openxmlformats.org/officeDocument/2006/relationships/font" Target="fonts/NeutonLight-boldItalic.fntdata"/><Relationship Id="rId10" Type="http://schemas.openxmlformats.org/officeDocument/2006/relationships/slide" Target="slides/slide5.xml"/><Relationship Id="rId54" Type="http://schemas.openxmlformats.org/officeDocument/2006/relationships/font" Target="fonts/NeutonLight-bold.fntdata"/><Relationship Id="rId13" Type="http://schemas.openxmlformats.org/officeDocument/2006/relationships/slide" Target="slides/slide8.xml"/><Relationship Id="rId57" Type="http://schemas.openxmlformats.org/officeDocument/2006/relationships/font" Target="fonts/HankenGrotesk-bold.fntdata"/><Relationship Id="rId12" Type="http://schemas.openxmlformats.org/officeDocument/2006/relationships/slide" Target="slides/slide7.xml"/><Relationship Id="rId56" Type="http://schemas.openxmlformats.org/officeDocument/2006/relationships/font" Target="fonts/HankenGrotesk-regular.fntdata"/><Relationship Id="rId15" Type="http://schemas.openxmlformats.org/officeDocument/2006/relationships/slide" Target="slides/slide10.xml"/><Relationship Id="rId59" Type="http://schemas.openxmlformats.org/officeDocument/2006/relationships/font" Target="fonts/HankenGrotesk-boldItalic.fntdata"/><Relationship Id="rId14" Type="http://schemas.openxmlformats.org/officeDocument/2006/relationships/slide" Target="slides/slide9.xml"/><Relationship Id="rId58" Type="http://schemas.openxmlformats.org/officeDocument/2006/relationships/font" Target="fonts/HankenGrotesk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d58fec1d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d58fec1d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b2f61a49d50398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b2f61a49d50398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d58fec1d8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d58fec1d8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b2f61a49d50398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b2f61a49d50398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d6e0ca2aeb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d6e0ca2ae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d6e0ca2ae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d6e0ca2ae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d6e0ca2ae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d6e0ca2ae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b2f61a49d50398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b2f61a49d50398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d6e0ca2ae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d6e0ca2ae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dff98cb0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dff98cb0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b2f61a49d50398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3b2f61a49d50398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b2f61a49d50398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b2f61a49d50398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b2f61a49d50398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b2f61a49d50398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b2f61a49d50398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b2f61a49d50398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d58fec1d84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d58fec1d84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d58fec1d8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d58fec1d8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b2f61a49d50398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b2f61a49d50398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b2f61a49d50398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b2f61a49d50398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b2f61a49d50398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3b2f61a49d50398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b2f61a49d50398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b2f61a49d50398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b2f61a49d50398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3b2f61a49d50398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b2f61a49d50398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3b2f61a49d50398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b2f61a49d50398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3b2f61a49d50398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b2f61a49d50398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3b2f61a49d50398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d58fec1d84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3d58fec1d84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b2f61a49d50398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3b2f61a49d50398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b2f61a49d50398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b2f61a49d50398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e0413659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3e0413659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b2f61a49d50398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b2f61a49d50398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b2f61a49d50398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b2f61a49d50398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b2f61a49d50398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3b2f61a49d50398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b2f61a49d50398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3b2f61a49d50398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b2f61a49d50398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3b2f61a49d50398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b2f61a49d50398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3b2f61a49d50398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d6e0ca2aeb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3d6e0ca2aeb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b2f61a49d50398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3b2f61a49d50398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b2f61a49d50398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3b2f61a49d50398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3b2f61a49d50398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3b2f61a49d50398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3d58fec1d84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3d58fec1d84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3d58fec1d84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3d58fec1d84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3b2f61a49d50398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3b2f61a49d50398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b2f61a49d50398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3b2f61a49d50398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3b2f61a49d50398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3b2f61a49d50398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29" name="Google Shape;29;p3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0" name="Google Shape;30;p3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1" name="Google Shape;31;p3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2" name="Google Shape;32;p3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3" name="Google Shape;33;p3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4" name="Google Shape;34;p3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5" name="Google Shape;35;p3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6" name="Google Shape;36;p3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7" name="Google Shape;37;p3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" name="Google Shape;38;p3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" name="Google Shape;42;p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" name="Google Shape;43;p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4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4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" name="Google Shape;51;p4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" name="Google Shape;54;p4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" name="Google Shape;55;p4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4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4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" name="Google Shape;62;p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5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5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5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5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5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5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5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5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5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" name="Google Shape;81;p5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87" name="Google Shape;87;p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" name="Google Shape;89;p6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0" name="Google Shape;90;p6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91" name="Google Shape;91;p6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94" name="Google Shape;94;p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7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" name="Google Shape;97;p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8" name="Google Shape;98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1" name="Google Shape;101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04" name="Google Shape;104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07" name="Google Shape;107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1" name="Google Shape;111;p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5" name="Google Shape;115;p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7" name="Google Shape;117;p8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1" name="Google Shape;121;p9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3" name="Google Shape;123;p9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4" name="Google Shape;124;p9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5" name="Google Shape;125;p9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7" name="Google Shape;127;p9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9" name="Google Shape;129;p9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9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5" name="Google Shape;135;p1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6" name="Google Shape;136;p10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7" name="Google Shape;137;p10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8" name="Google Shape;138;p10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0" name="Google Shape;140;p10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4" name="Google Shape;144;p11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5" name="Google Shape;145;p11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11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3" name="Google Shape;163;p11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4" name="Google Shape;164;p11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5" name="Google Shape;165;p11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6" name="Google Shape;166;p11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0" name="Google Shape;170;p12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12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2" name="Google Shape;172;p12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12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4" name="Google Shape;174;p12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5" name="Google Shape;175;p12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0" name="Google Shape;180;p12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1" name="Google Shape;181;p12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2" name="Google Shape;182;p12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3" name="Google Shape;183;p12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4" name="Google Shape;184;p12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5" name="Google Shape;185;p12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6" name="Google Shape;186;p12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7" name="Google Shape;187;p12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8" name="Google Shape;188;p1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9" name="Google Shape;189;p12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0" name="Google Shape;190;p12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1" name="Google Shape;191;p12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2" name="Google Shape;192;p12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3" name="Google Shape;193;p12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4" name="Google Shape;194;p12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9" name="Google Shape;199;p12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0" name="Google Shape;200;p12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1" name="Google Shape;201;p12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2" name="Google Shape;202;p12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12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8" name="Google Shape;208;p13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9" name="Google Shape;209;p13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0" name="Google Shape;210;p13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3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7" name="Google Shape;217;p13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0" name="Google Shape;220;p13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3" name="Google Shape;223;p13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5" name="Google Shape;225;p13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7" name="Google Shape;227;p13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8" name="Google Shape;228;p13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9" name="Google Shape;229;p13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1" name="Google Shape;231;p13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2" name="Google Shape;232;p13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3" name="Google Shape;233;p13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4" name="Google Shape;234;p13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5" name="Google Shape;235;p13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6" name="Google Shape;236;p13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13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8" name="Google Shape;238;p13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2" name="Google Shape;242;p14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3" name="Google Shape;243;p14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4" name="Google Shape;244;p14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5" name="Google Shape;245;p14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6" name="Google Shape;246;p14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14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14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14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0" name="Google Shape;250;p14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1" name="Google Shape;251;p14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14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3" name="Google Shape;253;p14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14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5" name="Google Shape;255;p14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14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14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14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14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14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5" name="Google Shape;265;p14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14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14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8" name="Google Shape;268;p14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9" name="Google Shape;269;p14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0" name="Google Shape;270;p14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1" name="Google Shape;271;p14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2" name="Google Shape;272;p14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14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4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4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8" name="Google Shape;278;p1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15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15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" name="Google Shape;281;p15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2" name="Google Shape;282;p15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283" name="Google Shape;283;p1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4" name="Google Shape;284;p1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5" name="Google Shape;285;p1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7" name="Google Shape;287;p1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8" name="Google Shape;288;p1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9" name="Google Shape;289;p1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2" name="Google Shape;292;p1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3" name="Google Shape;293;p1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5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6" name="Google Shape;296;p15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7" name="Google Shape;297;p15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8" name="Google Shape;298;p15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9" name="Google Shape;299;p15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0" name="Google Shape;300;p15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1" name="Google Shape;301;p15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2" name="Google Shape;302;p15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15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5" name="Google Shape;305;p15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6" name="Google Shape;306;p15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15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8" name="Google Shape;308;p15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9" name="Google Shape;309;p15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0" name="Google Shape;310;p15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15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2" name="Google Shape;312;p15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3" name="Google Shape;313;p15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15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7" name="Google Shape;327;p16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16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16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16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1" name="Google Shape;331;p16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3" name="Google Shape;333;p16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6" name="Google Shape;336;p16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7" name="Google Shape;337;p16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8" name="Google Shape;338;p16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9" name="Google Shape;339;p16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0" name="Google Shape;340;p16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1" name="Google Shape;341;p16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2" name="Google Shape;342;p16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3" name="Google Shape;343;p16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4" name="Google Shape;344;p16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5" name="Google Shape;345;p16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6" name="Google Shape;346;p16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9" name="Google Shape;349;p1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50" name="Google Shape;350;p17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1" name="Google Shape;351;p17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2" name="Google Shape;352;p17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3" name="Google Shape;353;p17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4" name="Google Shape;354;p17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5" name="Google Shape;355;p17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6" name="Google Shape;356;p17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7" name="Google Shape;357;p17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8" name="Google Shape;358;p17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9" name="Google Shape;359;p17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0" name="Google Shape;360;p17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7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7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3" name="Google Shape;363;p17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4" name="Google Shape;364;p17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5" name="Google Shape;365;p17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6" name="Google Shape;366;p17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7" name="Google Shape;367;p17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8" name="Google Shape;368;p17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9" name="Google Shape;369;p17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0" name="Google Shape;370;p17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1" name="Google Shape;371;p17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18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18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18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18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18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18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18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82" name="Google Shape;382;p18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3" name="Google Shape;383;p18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5" name="Google Shape;385;p18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6" name="Google Shape;386;p18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7" name="Google Shape;387;p18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8" name="Google Shape;388;p18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3" name="Google Shape;393;p1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94" name="Google Shape;394;p19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9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6" name="Google Shape;396;p19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8" name="Google Shape;398;p19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19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00" name="Google Shape;400;p19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1" name="Google Shape;401;p19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2" name="Google Shape;402;p19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05" name="Google Shape;405;p2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06" name="Google Shape;406;p20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20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8" name="Google Shape;408;p20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9" name="Google Shape;409;p20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20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20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2" name="Google Shape;412;p20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3" name="Google Shape;413;p20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4" name="Google Shape;414;p20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5" name="Google Shape;415;p20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6" name="Google Shape;416;p20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7" name="Google Shape;417;p20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8" name="Google Shape;418;p20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20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20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20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20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20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26" name="Google Shape;426;p2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7" name="Google Shape;427;p2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8" name="Google Shape;428;p2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9" name="Google Shape;429;p2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30" name="Google Shape;430;p21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1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21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21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21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21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8" name="Google Shape;438;p21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9" name="Google Shape;439;p21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0" name="Google Shape;440;p21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21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2" name="Google Shape;442;p21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3" name="Google Shape;443;p21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21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0" name="Google Shape;450;p2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1" name="Google Shape;451;p2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52" name="Google Shape;452;p22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53" name="Google Shape;453;p22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55" name="Google Shape;455;p2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6" name="Google Shape;456;p2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57" name="Google Shape;457;p22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22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22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22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22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22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22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4" name="Google Shape;464;p22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23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2" name="Google Shape;472;p23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3" name="Google Shape;473;p23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23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7" name="Google Shape;477;p2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8" name="Google Shape;478;p2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9" name="Google Shape;479;p24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24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3" name="Google Shape;483;p25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4" name="Google Shape;484;p25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5" name="Google Shape;485;p25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6" name="Google Shape;486;p25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7" name="Google Shape;487;p25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8" name="Google Shape;488;p25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9" name="Google Shape;489;p25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0" name="Google Shape;490;p25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1" name="Google Shape;491;p25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2" name="Google Shape;492;p25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3" name="Google Shape;493;p25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4" name="Google Shape;494;p25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5" name="Google Shape;495;p25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6" name="Google Shape;496;p25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7" name="Google Shape;497;p2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98" name="Google Shape;498;p25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9" name="Google Shape;499;p25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0" name="Google Shape;500;p25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25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2" name="Google Shape;502;p25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3" name="Google Shape;503;p25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4" name="Google Shape;504;p25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5" name="Google Shape;505;p25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6" name="Google Shape;506;p25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7" name="Google Shape;507;p25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8" name="Google Shape;508;p25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25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25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25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2" name="Google Shape;512;p25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5" name="Google Shape;515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0" name="Google Shape;52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3" name="Google Shape;52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4" name="Google Shape;52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4" name="Google Shape;534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5" name="Google Shape;535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0" name="Google Shape;540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6" name="Google Shape;556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8" name="Google Shape;558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9" name="Google Shape;559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2" name="Google Shape;562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5" name="Google Shape;565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0" name="Google Shape;570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1" name="Google Shape;571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2" name="Google Shape;572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4" name="Google Shape;574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0" name="Google Shape;580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3" name="Google Shape;583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6" name="Google Shape;58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7" name="Google Shape;587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8" name="Google Shape;588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1" name="Google Shape;591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4" name="Google Shape;594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6" name="Google Shape;59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8" name="Google Shape;598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0" name="Google Shape;610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7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0" name="Google Shape;620;p47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Live LLM Casting</a:t>
            </a:r>
            <a:endParaRPr/>
          </a:p>
        </p:txBody>
      </p:sp>
      <p:sp>
        <p:nvSpPr>
          <p:cNvPr id="621" name="Google Shape;621;p47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/>
              <a:t>LLM powered live CS2 gameplay commentary</a:t>
            </a:r>
            <a:endParaRPr/>
          </a:p>
        </p:txBody>
      </p:sp>
      <p:sp>
        <p:nvSpPr>
          <p:cNvPr id="622" name="Google Shape;622;p47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Danny Son</a:t>
            </a:r>
            <a:endParaRPr/>
          </a:p>
        </p:txBody>
      </p:sp>
      <p:sp>
        <p:nvSpPr>
          <p:cNvPr id="623" name="Google Shape;623;p47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Year 2026</a:t>
            </a:r>
            <a:endParaRPr/>
          </a:p>
        </p:txBody>
      </p:sp>
      <p:sp>
        <p:nvSpPr>
          <p:cNvPr id="624" name="Google Shape;624;p47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Semester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8"/>
          <p:cNvSpPr/>
          <p:nvPr/>
        </p:nvSpPr>
        <p:spPr>
          <a:xfrm>
            <a:off x="596525" y="1626300"/>
            <a:ext cx="3627000" cy="302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0" name="Google Shape;630;p48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1" name="Google Shape;631;p48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2" name="Google Shape;632;p48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3" name="Google Shape;633;p48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4" name="Google Shape;634;p48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is casting for games?</a:t>
            </a:r>
            <a:endParaRPr/>
          </a:p>
        </p:txBody>
      </p:sp>
      <p:sp>
        <p:nvSpPr>
          <p:cNvPr id="635" name="Google Shape;635;p48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636" name="Google Shape;636;p48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637" name="Google Shape;637;p48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638" name="Google Shape;638;p48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639" name="Google Shape;639;p48"/>
          <p:cNvSpPr txBox="1"/>
          <p:nvPr>
            <p:ph idx="19" type="title"/>
          </p:nvPr>
        </p:nvSpPr>
        <p:spPr>
          <a:xfrm>
            <a:off x="834275" y="1820850"/>
            <a:ext cx="31515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Live commentary over a match</a:t>
            </a:r>
            <a:br>
              <a:rPr lang="en" sz="2000"/>
            </a:br>
            <a:br>
              <a:rPr lang="en" sz="2000"/>
            </a:br>
            <a:r>
              <a:rPr lang="en" sz="2000"/>
              <a:t>Similar</a:t>
            </a:r>
            <a:r>
              <a:rPr lang="en" sz="2000"/>
              <a:t> to sports broadcasting</a:t>
            </a:r>
            <a:endParaRPr sz="2000"/>
          </a:p>
        </p:txBody>
      </p:sp>
      <p:pic>
        <p:nvPicPr>
          <p:cNvPr id="640" name="Google Shape;640;p48" title="downloa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1626" y="1819638"/>
            <a:ext cx="3524950" cy="264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9"/>
          <p:cNvSpPr/>
          <p:nvPr/>
        </p:nvSpPr>
        <p:spPr>
          <a:xfrm>
            <a:off x="1348175" y="4546700"/>
            <a:ext cx="1610100" cy="360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46" name="Google Shape;646;p49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47" name="Google Shape;647;p49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48" name="Google Shape;648;p49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49" name="Google Shape;649;p4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0" name="Google Shape;650;p49"/>
          <p:cNvSpPr txBox="1"/>
          <p:nvPr>
            <p:ph idx="7" type="title"/>
          </p:nvPr>
        </p:nvSpPr>
        <p:spPr>
          <a:xfrm>
            <a:off x="1586525" y="1673256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The Finals</a:t>
            </a:r>
            <a:endParaRPr/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2104250" y="85032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"/>
              <a:t>In-Game Casters</a:t>
            </a:r>
            <a:endParaRPr/>
          </a:p>
        </p:txBody>
      </p:sp>
      <p:sp>
        <p:nvSpPr>
          <p:cNvPr id="652" name="Google Shape;652;p49"/>
          <p:cNvSpPr txBox="1"/>
          <p:nvPr>
            <p:ph idx="17" type="body"/>
          </p:nvPr>
        </p:nvSpPr>
        <p:spPr>
          <a:xfrm>
            <a:off x="1960375" y="2273088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300"/>
              <a:t>Event-Driven casting in real matches live</a:t>
            </a:r>
            <a:endParaRPr sz="1300"/>
          </a:p>
        </p:txBody>
      </p:sp>
      <p:sp>
        <p:nvSpPr>
          <p:cNvPr id="653" name="Google Shape;653;p49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654" name="Google Shape;654;p49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655" name="Google Shape;655;p49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656" name="Google Shape;656;p49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cxnSp>
        <p:nvCxnSpPr>
          <p:cNvPr id="657" name="Google Shape;657;p49"/>
          <p:cNvCxnSpPr/>
          <p:nvPr/>
        </p:nvCxnSpPr>
        <p:spPr>
          <a:xfrm rot="10800000">
            <a:off x="44275" y="278412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8" name="Google Shape;658;p49"/>
          <p:cNvSpPr/>
          <p:nvPr/>
        </p:nvSpPr>
        <p:spPr>
          <a:xfrm>
            <a:off x="1348175" y="3031400"/>
            <a:ext cx="1610100" cy="360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59" name="Google Shape;659;p49" title="the-finals_fze1.jpg"/>
          <p:cNvPicPr preferRelativeResize="0"/>
          <p:nvPr>
            <p:ph idx="15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81813"/>
            <a:ext cx="1512300" cy="15123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0"/>
          <p:cNvSpPr/>
          <p:nvPr/>
        </p:nvSpPr>
        <p:spPr>
          <a:xfrm>
            <a:off x="1348175" y="4546700"/>
            <a:ext cx="1610100" cy="360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5" name="Google Shape;665;p50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6" name="Google Shape;666;p50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7" name="Google Shape;667;p50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8" name="Google Shape;668;p50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9" name="Google Shape;669;p50"/>
          <p:cNvSpPr/>
          <p:nvPr/>
        </p:nvSpPr>
        <p:spPr>
          <a:xfrm>
            <a:off x="1433076" y="4263375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0" name="Google Shape;670;p50"/>
          <p:cNvSpPr txBox="1"/>
          <p:nvPr>
            <p:ph idx="7" type="title"/>
          </p:nvPr>
        </p:nvSpPr>
        <p:spPr>
          <a:xfrm>
            <a:off x="1586525" y="1673256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The Finals</a:t>
            </a:r>
            <a:endParaRPr/>
          </a:p>
        </p:txBody>
      </p:sp>
      <p:sp>
        <p:nvSpPr>
          <p:cNvPr id="671" name="Google Shape;671;p50"/>
          <p:cNvSpPr txBox="1"/>
          <p:nvPr>
            <p:ph idx="8" type="title"/>
          </p:nvPr>
        </p:nvSpPr>
        <p:spPr>
          <a:xfrm>
            <a:off x="1586525" y="430102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Some Guy</a:t>
            </a:r>
            <a:endParaRPr/>
          </a:p>
        </p:txBody>
      </p:sp>
      <p:sp>
        <p:nvSpPr>
          <p:cNvPr id="672" name="Google Shape;672;p50"/>
          <p:cNvSpPr txBox="1"/>
          <p:nvPr>
            <p:ph type="title"/>
          </p:nvPr>
        </p:nvSpPr>
        <p:spPr>
          <a:xfrm>
            <a:off x="2104250" y="85032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"/>
              <a:t>In-Game Casters</a:t>
            </a:r>
            <a:endParaRPr/>
          </a:p>
        </p:txBody>
      </p:sp>
      <p:sp>
        <p:nvSpPr>
          <p:cNvPr id="673" name="Google Shape;673;p50"/>
          <p:cNvSpPr txBox="1"/>
          <p:nvPr>
            <p:ph idx="5" type="title"/>
          </p:nvPr>
        </p:nvSpPr>
        <p:spPr>
          <a:xfrm>
            <a:off x="2104250" y="3305813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"/>
              <a:t>Cloned Voices</a:t>
            </a:r>
            <a:endParaRPr/>
          </a:p>
        </p:txBody>
      </p:sp>
      <p:pic>
        <p:nvPicPr>
          <p:cNvPr id="674" name="Google Shape;674;p50" title="hq720.jpg"/>
          <p:cNvPicPr preferRelativeResize="0"/>
          <p:nvPr>
            <p:ph idx="13" type="pic"/>
          </p:nvPr>
        </p:nvPicPr>
        <p:blipFill rotWithShape="1">
          <a:blip r:embed="rId3">
            <a:alphaModFix/>
          </a:blip>
          <a:srcRect b="0" l="21866" r="21866" t="0"/>
          <a:stretch/>
        </p:blipFill>
        <p:spPr>
          <a:xfrm>
            <a:off x="0" y="3216900"/>
            <a:ext cx="1512300" cy="1512300"/>
          </a:xfrm>
          <a:prstGeom prst="roundRect">
            <a:avLst>
              <a:gd fmla="val 16667" name="adj"/>
            </a:avLst>
          </a:prstGeom>
        </p:spPr>
      </p:pic>
      <p:sp>
        <p:nvSpPr>
          <p:cNvPr id="675" name="Google Shape;675;p50"/>
          <p:cNvSpPr txBox="1"/>
          <p:nvPr>
            <p:ph idx="17" type="body"/>
          </p:nvPr>
        </p:nvSpPr>
        <p:spPr>
          <a:xfrm>
            <a:off x="1960375" y="2273088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300"/>
              <a:t>Event-Driven casting in real matches live</a:t>
            </a:r>
            <a:endParaRPr sz="1300"/>
          </a:p>
        </p:txBody>
      </p:sp>
      <p:sp>
        <p:nvSpPr>
          <p:cNvPr id="676" name="Google Shape;676;p50"/>
          <p:cNvSpPr txBox="1"/>
          <p:nvPr>
            <p:ph idx="18" type="body"/>
          </p:nvPr>
        </p:nvSpPr>
        <p:spPr>
          <a:xfrm>
            <a:off x="2889200" y="426337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300"/>
              <a:t>From VA samples to TTS</a:t>
            </a:r>
            <a:endParaRPr sz="1300"/>
          </a:p>
        </p:txBody>
      </p:sp>
      <p:sp>
        <p:nvSpPr>
          <p:cNvPr id="677" name="Google Shape;677;p50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678" name="Google Shape;678;p50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679" name="Google Shape;679;p50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680" name="Google Shape;680;p50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cxnSp>
        <p:nvCxnSpPr>
          <p:cNvPr id="681" name="Google Shape;681;p50"/>
          <p:cNvCxnSpPr/>
          <p:nvPr/>
        </p:nvCxnSpPr>
        <p:spPr>
          <a:xfrm rot="10800000">
            <a:off x="44275" y="278412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2" name="Google Shape;682;p50"/>
          <p:cNvSpPr/>
          <p:nvPr/>
        </p:nvSpPr>
        <p:spPr>
          <a:xfrm>
            <a:off x="1348175" y="3031400"/>
            <a:ext cx="1610100" cy="360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83" name="Google Shape;683;p50" title="the-finals_fze1.jpg"/>
          <p:cNvPicPr preferRelativeResize="0"/>
          <p:nvPr>
            <p:ph idx="15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881813"/>
            <a:ext cx="1512300" cy="15123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1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9" name="Google Shape;689;p51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0" name="Google Shape;690;p51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1" name="Google Shape;691;p51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2" name="Google Shape;692;p5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693" name="Google Shape;693;p5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694" name="Google Shape;694;p5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695" name="Google Shape;695;p51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696" name="Google Shape;696;p51"/>
          <p:cNvSpPr/>
          <p:nvPr/>
        </p:nvSpPr>
        <p:spPr>
          <a:xfrm>
            <a:off x="1407400" y="1587200"/>
            <a:ext cx="5756700" cy="2950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30 sec in video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2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2" name="Google Shape;702;p5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3" name="Google Shape;703;p5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4" name="Google Shape;704;p5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5" name="Google Shape;705;p52"/>
          <p:cNvSpPr/>
          <p:nvPr/>
        </p:nvSpPr>
        <p:spPr>
          <a:xfrm>
            <a:off x="290300" y="1630725"/>
            <a:ext cx="34638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6" name="Google Shape;706;p52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But its use is very restrained</a:t>
            </a:r>
            <a:endParaRPr/>
          </a:p>
        </p:txBody>
      </p:sp>
      <p:sp>
        <p:nvSpPr>
          <p:cNvPr id="707" name="Google Shape;707;p52"/>
          <p:cNvSpPr txBox="1"/>
          <p:nvPr>
            <p:ph idx="19" type="title"/>
          </p:nvPr>
        </p:nvSpPr>
        <p:spPr>
          <a:xfrm>
            <a:off x="596550" y="1749475"/>
            <a:ext cx="2925300" cy="6000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000"/>
              <a:t>Commentary is sparse</a:t>
            </a:r>
            <a:endParaRPr sz="2000"/>
          </a:p>
        </p:txBody>
      </p:sp>
      <p:sp>
        <p:nvSpPr>
          <p:cNvPr id="708" name="Google Shape;708;p5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709" name="Google Shape;709;p5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710" name="Google Shape;710;p5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711" name="Google Shape;711;p52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712" name="Google Shape;712;p52"/>
          <p:cNvSpPr/>
          <p:nvPr/>
        </p:nvSpPr>
        <p:spPr>
          <a:xfrm>
            <a:off x="4223550" y="1630725"/>
            <a:ext cx="4664100" cy="2950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3" name="Google Shape;713;p52"/>
          <p:cNvSpPr txBox="1"/>
          <p:nvPr>
            <p:ph idx="19" type="title"/>
          </p:nvPr>
        </p:nvSpPr>
        <p:spPr>
          <a:xfrm>
            <a:off x="5092950" y="2007600"/>
            <a:ext cx="2925300" cy="21555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Round start/end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Time running out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Team wip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etc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3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9" name="Google Shape;719;p53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0" name="Google Shape;720;p53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1" name="Google Shape;721;p53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2" name="Google Shape;722;p53"/>
          <p:cNvSpPr/>
          <p:nvPr/>
        </p:nvSpPr>
        <p:spPr>
          <a:xfrm>
            <a:off x="290300" y="1630725"/>
            <a:ext cx="34638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3" name="Google Shape;723;p53"/>
          <p:cNvSpPr/>
          <p:nvPr/>
        </p:nvSpPr>
        <p:spPr>
          <a:xfrm>
            <a:off x="290300" y="2678675"/>
            <a:ext cx="34638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4" name="Google Shape;724;p53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But its use is very restrained</a:t>
            </a:r>
            <a:endParaRPr/>
          </a:p>
        </p:txBody>
      </p:sp>
      <p:sp>
        <p:nvSpPr>
          <p:cNvPr id="725" name="Google Shape;725;p53"/>
          <p:cNvSpPr txBox="1"/>
          <p:nvPr>
            <p:ph idx="5" type="title"/>
          </p:nvPr>
        </p:nvSpPr>
        <p:spPr>
          <a:xfrm>
            <a:off x="596550" y="2812875"/>
            <a:ext cx="29253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000"/>
              <a:t>Commentary isn’t unique</a:t>
            </a:r>
            <a:endParaRPr sz="2000"/>
          </a:p>
        </p:txBody>
      </p:sp>
      <p:sp>
        <p:nvSpPr>
          <p:cNvPr id="726" name="Google Shape;726;p53"/>
          <p:cNvSpPr txBox="1"/>
          <p:nvPr>
            <p:ph idx="19" type="title"/>
          </p:nvPr>
        </p:nvSpPr>
        <p:spPr>
          <a:xfrm>
            <a:off x="596550" y="1749475"/>
            <a:ext cx="2925300" cy="6000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000"/>
              <a:t>Commentary is sparse</a:t>
            </a:r>
            <a:endParaRPr sz="2000"/>
          </a:p>
        </p:txBody>
      </p:sp>
      <p:sp>
        <p:nvSpPr>
          <p:cNvPr id="727" name="Google Shape;727;p5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728" name="Google Shape;728;p5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729" name="Google Shape;729;p5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730" name="Google Shape;730;p53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731" name="Google Shape;731;p53"/>
          <p:cNvSpPr/>
          <p:nvPr/>
        </p:nvSpPr>
        <p:spPr>
          <a:xfrm>
            <a:off x="4223550" y="1630725"/>
            <a:ext cx="4664100" cy="2950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2" name="Google Shape;732;p53"/>
          <p:cNvSpPr txBox="1"/>
          <p:nvPr>
            <p:ph idx="19" type="title"/>
          </p:nvPr>
        </p:nvSpPr>
        <p:spPr>
          <a:xfrm>
            <a:off x="4925625" y="2007600"/>
            <a:ext cx="3276000" cy="20622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Repetitive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Lines/Audio curated beforehand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Nothing generated live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4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8" name="Google Shape;738;p5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9" name="Google Shape;739;p5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40" name="Google Shape;740;p5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41" name="Google Shape;741;p54"/>
          <p:cNvSpPr/>
          <p:nvPr/>
        </p:nvSpPr>
        <p:spPr>
          <a:xfrm>
            <a:off x="290300" y="1630725"/>
            <a:ext cx="34638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42" name="Google Shape;742;p54"/>
          <p:cNvSpPr/>
          <p:nvPr/>
        </p:nvSpPr>
        <p:spPr>
          <a:xfrm>
            <a:off x="290300" y="2678675"/>
            <a:ext cx="34638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43" name="Google Shape;743;p54"/>
          <p:cNvSpPr/>
          <p:nvPr/>
        </p:nvSpPr>
        <p:spPr>
          <a:xfrm>
            <a:off x="290300" y="3726625"/>
            <a:ext cx="34638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44" name="Google Shape;744;p54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But its use is very restrained</a:t>
            </a:r>
            <a:endParaRPr/>
          </a:p>
        </p:txBody>
      </p:sp>
      <p:sp>
        <p:nvSpPr>
          <p:cNvPr id="745" name="Google Shape;745;p54"/>
          <p:cNvSpPr txBox="1"/>
          <p:nvPr>
            <p:ph idx="5" type="title"/>
          </p:nvPr>
        </p:nvSpPr>
        <p:spPr>
          <a:xfrm>
            <a:off x="596550" y="2812875"/>
            <a:ext cx="29253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Commentary isn’t unique</a:t>
            </a:r>
            <a:r>
              <a:rPr lang="en" sz="2000"/>
              <a:t> </a:t>
            </a:r>
            <a:endParaRPr sz="2000"/>
          </a:p>
        </p:txBody>
      </p:sp>
      <p:sp>
        <p:nvSpPr>
          <p:cNvPr id="746" name="Google Shape;746;p54"/>
          <p:cNvSpPr txBox="1"/>
          <p:nvPr>
            <p:ph idx="19" type="title"/>
          </p:nvPr>
        </p:nvSpPr>
        <p:spPr>
          <a:xfrm>
            <a:off x="596550" y="1749475"/>
            <a:ext cx="2925300" cy="6000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Commentary is sparse</a:t>
            </a:r>
            <a:endParaRPr sz="2000"/>
          </a:p>
        </p:txBody>
      </p:sp>
      <p:sp>
        <p:nvSpPr>
          <p:cNvPr id="747" name="Google Shape;747;p54"/>
          <p:cNvSpPr txBox="1"/>
          <p:nvPr>
            <p:ph idx="6" type="title"/>
          </p:nvPr>
        </p:nvSpPr>
        <p:spPr>
          <a:xfrm>
            <a:off x="596525" y="3854625"/>
            <a:ext cx="2925300" cy="6000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Commentary isn’t nuanced</a:t>
            </a:r>
            <a:endParaRPr sz="2000"/>
          </a:p>
        </p:txBody>
      </p:sp>
      <p:sp>
        <p:nvSpPr>
          <p:cNvPr id="748" name="Google Shape;748;p5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749" name="Google Shape;749;p5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750" name="Google Shape;750;p5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751" name="Google Shape;751;p5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752" name="Google Shape;752;p54"/>
          <p:cNvSpPr/>
          <p:nvPr/>
        </p:nvSpPr>
        <p:spPr>
          <a:xfrm>
            <a:off x="4223550" y="1630725"/>
            <a:ext cx="4664100" cy="2950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3" name="Google Shape;753;p54"/>
          <p:cNvSpPr txBox="1"/>
          <p:nvPr>
            <p:ph idx="19" type="title"/>
          </p:nvPr>
        </p:nvSpPr>
        <p:spPr>
          <a:xfrm>
            <a:off x="5092950" y="2007600"/>
            <a:ext cx="2925300" cy="20622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Mostly map-agnostic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Lacks locational awareness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55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9" name="Google Shape;759;p55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0" name="Google Shape;760;p55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1" name="Google Shape;761;p55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2" name="Google Shape;762;p55"/>
          <p:cNvSpPr/>
          <p:nvPr/>
        </p:nvSpPr>
        <p:spPr>
          <a:xfrm>
            <a:off x="290300" y="1630725"/>
            <a:ext cx="34638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3" name="Google Shape;763;p55"/>
          <p:cNvSpPr/>
          <p:nvPr/>
        </p:nvSpPr>
        <p:spPr>
          <a:xfrm>
            <a:off x="290300" y="2678675"/>
            <a:ext cx="34638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4" name="Google Shape;764;p55"/>
          <p:cNvSpPr/>
          <p:nvPr/>
        </p:nvSpPr>
        <p:spPr>
          <a:xfrm>
            <a:off x="290300" y="3726625"/>
            <a:ext cx="34638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5" name="Google Shape;765;p55"/>
          <p:cNvSpPr txBox="1"/>
          <p:nvPr>
            <p:ph type="title"/>
          </p:nvPr>
        </p:nvSpPr>
        <p:spPr>
          <a:xfrm>
            <a:off x="596525" y="753325"/>
            <a:ext cx="79785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Lets tackle these problems</a:t>
            </a:r>
            <a:endParaRPr/>
          </a:p>
        </p:txBody>
      </p:sp>
      <p:sp>
        <p:nvSpPr>
          <p:cNvPr id="766" name="Google Shape;766;p55"/>
          <p:cNvSpPr txBox="1"/>
          <p:nvPr>
            <p:ph idx="19" type="title"/>
          </p:nvPr>
        </p:nvSpPr>
        <p:spPr>
          <a:xfrm>
            <a:off x="596550" y="1749475"/>
            <a:ext cx="2925300" cy="6000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000"/>
              <a:t>Commentary is sparse</a:t>
            </a:r>
            <a:endParaRPr sz="2000"/>
          </a:p>
        </p:txBody>
      </p:sp>
      <p:sp>
        <p:nvSpPr>
          <p:cNvPr id="767" name="Google Shape;767;p5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768" name="Google Shape;768;p5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769" name="Google Shape;769;p5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770" name="Google Shape;770;p55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771" name="Google Shape;771;p55"/>
          <p:cNvSpPr txBox="1"/>
          <p:nvPr>
            <p:ph idx="5" type="title"/>
          </p:nvPr>
        </p:nvSpPr>
        <p:spPr>
          <a:xfrm>
            <a:off x="596550" y="2812875"/>
            <a:ext cx="29253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Commentary isn’t unique</a:t>
            </a:r>
            <a:r>
              <a:rPr lang="en" sz="2000"/>
              <a:t> </a:t>
            </a:r>
            <a:endParaRPr sz="2000"/>
          </a:p>
        </p:txBody>
      </p:sp>
      <p:sp>
        <p:nvSpPr>
          <p:cNvPr id="772" name="Google Shape;772;p55"/>
          <p:cNvSpPr txBox="1"/>
          <p:nvPr>
            <p:ph idx="6" type="title"/>
          </p:nvPr>
        </p:nvSpPr>
        <p:spPr>
          <a:xfrm>
            <a:off x="596525" y="3854625"/>
            <a:ext cx="2925300" cy="6000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000"/>
              <a:t>Commentary isn’t nuanced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56"/>
          <p:cNvGrpSpPr/>
          <p:nvPr/>
        </p:nvGrpSpPr>
        <p:grpSpPr>
          <a:xfrm>
            <a:off x="638075" y="1198336"/>
            <a:ext cx="7882627" cy="3820517"/>
            <a:chOff x="227492" y="1993681"/>
            <a:chExt cx="4291500" cy="2923119"/>
          </a:xfrm>
        </p:grpSpPr>
        <p:sp>
          <p:nvSpPr>
            <p:cNvPr id="778" name="Google Shape;778;p56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79" name="Google Shape;779;p56"/>
            <p:cNvSpPr/>
            <p:nvPr/>
          </p:nvSpPr>
          <p:spPr>
            <a:xfrm>
              <a:off x="476806" y="1993681"/>
              <a:ext cx="1797368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780" name="Google Shape;780;p56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81" name="Google Shape;781;p56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82" name="Google Shape;782;p56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83" name="Google Shape;783;p56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84" name="Google Shape;784;p56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785" name="Google Shape;785;p56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786" name="Google Shape;786;p56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787" name="Google Shape;787;p56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788" name="Google Shape;788;p56"/>
          <p:cNvSpPr txBox="1"/>
          <p:nvPr>
            <p:ph idx="4294967295" type="title"/>
          </p:nvPr>
        </p:nvSpPr>
        <p:spPr>
          <a:xfrm>
            <a:off x="848775" y="3862400"/>
            <a:ext cx="3185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000">
                <a:latin typeface="Hanken Grotesk Light"/>
                <a:ea typeface="Hanken Grotesk Light"/>
                <a:cs typeface="Hanken Grotesk Light"/>
                <a:sym typeface="Hanken Grotesk Light"/>
              </a:rPr>
              <a:t>Listen for live game events</a:t>
            </a:r>
            <a:endParaRPr sz="2000"/>
          </a:p>
        </p:txBody>
      </p:sp>
      <p:sp>
        <p:nvSpPr>
          <p:cNvPr id="789" name="Google Shape;789;p56"/>
          <p:cNvSpPr txBox="1"/>
          <p:nvPr>
            <p:ph idx="2" type="title"/>
          </p:nvPr>
        </p:nvSpPr>
        <p:spPr>
          <a:xfrm>
            <a:off x="4626525" y="3801500"/>
            <a:ext cx="3223200" cy="6705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>
                <a:latin typeface="Hanken Grotesk Light"/>
                <a:ea typeface="Hanken Grotesk Light"/>
                <a:cs typeface="Hanken Grotesk Light"/>
                <a:sym typeface="Hanken Grotesk Light"/>
              </a:rPr>
              <a:t>Run context through local Text LLM</a:t>
            </a:r>
            <a:endParaRPr sz="2000"/>
          </a:p>
        </p:txBody>
      </p:sp>
      <p:sp>
        <p:nvSpPr>
          <p:cNvPr id="790" name="Google Shape;790;p56"/>
          <p:cNvSpPr txBox="1"/>
          <p:nvPr>
            <p:ph idx="3" type="title"/>
          </p:nvPr>
        </p:nvSpPr>
        <p:spPr>
          <a:xfrm>
            <a:off x="4469625" y="2153450"/>
            <a:ext cx="3537000" cy="6705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>
                <a:latin typeface="Hanken Grotesk Light"/>
                <a:ea typeface="Hanken Grotesk Light"/>
                <a:cs typeface="Hanken Grotesk Light"/>
                <a:sym typeface="Hanken Grotesk Light"/>
              </a:rPr>
              <a:t>Run output through local TTS LLM</a:t>
            </a:r>
            <a:endParaRPr sz="2000"/>
          </a:p>
        </p:txBody>
      </p:sp>
      <p:sp>
        <p:nvSpPr>
          <p:cNvPr id="791" name="Google Shape;791;p56"/>
          <p:cNvSpPr txBox="1"/>
          <p:nvPr>
            <p:ph type="title"/>
          </p:nvPr>
        </p:nvSpPr>
        <p:spPr>
          <a:xfrm>
            <a:off x="604325" y="555526"/>
            <a:ext cx="7062000" cy="759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4000">
                <a:latin typeface="Neuton Light"/>
                <a:ea typeface="Neuton Light"/>
                <a:cs typeface="Neuton Light"/>
                <a:sym typeface="Neuton Light"/>
              </a:rPr>
              <a:t>What could this look like?</a:t>
            </a:r>
            <a:endParaRPr/>
          </a:p>
        </p:txBody>
      </p:sp>
      <p:cxnSp>
        <p:nvCxnSpPr>
          <p:cNvPr id="792" name="Google Shape;792;p56"/>
          <p:cNvCxnSpPr>
            <a:stCxn id="788" idx="3"/>
            <a:endCxn id="789" idx="1"/>
          </p:cNvCxnSpPr>
          <p:nvPr/>
        </p:nvCxnSpPr>
        <p:spPr>
          <a:xfrm>
            <a:off x="4033875" y="4136750"/>
            <a:ext cx="592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3" name="Google Shape;793;p56"/>
          <p:cNvCxnSpPr>
            <a:stCxn id="789" idx="0"/>
            <a:endCxn id="790" idx="2"/>
          </p:cNvCxnSpPr>
          <p:nvPr/>
        </p:nvCxnSpPr>
        <p:spPr>
          <a:xfrm rot="10800000">
            <a:off x="6238125" y="2823800"/>
            <a:ext cx="0" cy="97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4" name="Google Shape;794;p56"/>
          <p:cNvCxnSpPr>
            <a:stCxn id="795" idx="2"/>
            <a:endCxn id="788" idx="0"/>
          </p:cNvCxnSpPr>
          <p:nvPr/>
        </p:nvCxnSpPr>
        <p:spPr>
          <a:xfrm flipH="1">
            <a:off x="2441188" y="3334175"/>
            <a:ext cx="18300" cy="52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95" name="Google Shape;795;p56" title="downloa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500" y="1733975"/>
            <a:ext cx="2847975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56"/>
          <p:cNvSpPr txBox="1"/>
          <p:nvPr>
            <p:ph idx="2" type="title"/>
          </p:nvPr>
        </p:nvSpPr>
        <p:spPr>
          <a:xfrm>
            <a:off x="1930125" y="1198325"/>
            <a:ext cx="1509300" cy="3774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Running locally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57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2" name="Google Shape;802;p57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3" name="Google Shape;803;p5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4" name="Google Shape;804;p57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5" name="Google Shape;805;p57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806" name="Google Shape;806;p57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807" name="Google Shape;807;p57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808" name="Google Shape;808;p57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809" name="Google Shape;809;p57"/>
          <p:cNvSpPr txBox="1"/>
          <p:nvPr>
            <p:ph type="title"/>
          </p:nvPr>
        </p:nvSpPr>
        <p:spPr>
          <a:xfrm>
            <a:off x="604325" y="555525"/>
            <a:ext cx="7062000" cy="627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4000">
                <a:latin typeface="Neuton Light"/>
                <a:ea typeface="Neuton Light"/>
                <a:cs typeface="Neuton Light"/>
                <a:sym typeface="Neuton Light"/>
              </a:rPr>
              <a:t>My pipeline</a:t>
            </a:r>
            <a:endParaRPr/>
          </a:p>
        </p:txBody>
      </p:sp>
      <p:grpSp>
        <p:nvGrpSpPr>
          <p:cNvPr id="810" name="Google Shape;810;p57"/>
          <p:cNvGrpSpPr/>
          <p:nvPr/>
        </p:nvGrpSpPr>
        <p:grpSpPr>
          <a:xfrm>
            <a:off x="195864" y="1182525"/>
            <a:ext cx="4376043" cy="3939495"/>
            <a:chOff x="227492" y="1993675"/>
            <a:chExt cx="4291500" cy="2923125"/>
          </a:xfrm>
        </p:grpSpPr>
        <p:sp>
          <p:nvSpPr>
            <p:cNvPr id="811" name="Google Shape;811;p57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12" name="Google Shape;812;p57"/>
            <p:cNvSpPr/>
            <p:nvPr/>
          </p:nvSpPr>
          <p:spPr>
            <a:xfrm>
              <a:off x="391129" y="1993675"/>
              <a:ext cx="2055971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13" name="Google Shape;813;p57"/>
          <p:cNvSpPr txBox="1"/>
          <p:nvPr>
            <p:ph idx="2" type="title"/>
          </p:nvPr>
        </p:nvSpPr>
        <p:spPr>
          <a:xfrm>
            <a:off x="660650" y="1164984"/>
            <a:ext cx="1509300" cy="6633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Listen to events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Via GSI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</p:txBody>
      </p:sp>
      <p:pic>
        <p:nvPicPr>
          <p:cNvPr id="814" name="Google Shape;814;p57" title="Screenshot_20260421_0242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725" y="2052450"/>
            <a:ext cx="1970024" cy="16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57" title="Screenshot_20260421_0243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5199" y="1659388"/>
            <a:ext cx="2213400" cy="336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p58"/>
          <p:cNvGrpSpPr/>
          <p:nvPr/>
        </p:nvGrpSpPr>
        <p:grpSpPr>
          <a:xfrm>
            <a:off x="5411925" y="1147275"/>
            <a:ext cx="3446075" cy="3939497"/>
            <a:chOff x="227492" y="1993674"/>
            <a:chExt cx="4291500" cy="2923126"/>
          </a:xfrm>
        </p:grpSpPr>
        <p:sp>
          <p:nvSpPr>
            <p:cNvPr id="821" name="Google Shape;821;p58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22" name="Google Shape;822;p58"/>
            <p:cNvSpPr/>
            <p:nvPr/>
          </p:nvSpPr>
          <p:spPr>
            <a:xfrm>
              <a:off x="346016" y="1993674"/>
              <a:ext cx="2564606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23" name="Google Shape;823;p58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4" name="Google Shape;824;p58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5" name="Google Shape;825;p58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6" name="Google Shape;826;p58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7" name="Google Shape;827;p58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828" name="Google Shape;828;p58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829" name="Google Shape;829;p58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830" name="Google Shape;830;p58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831" name="Google Shape;831;p58"/>
          <p:cNvSpPr txBox="1"/>
          <p:nvPr>
            <p:ph type="title"/>
          </p:nvPr>
        </p:nvSpPr>
        <p:spPr>
          <a:xfrm>
            <a:off x="604325" y="555525"/>
            <a:ext cx="7062000" cy="627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4000">
                <a:latin typeface="Neuton Light"/>
                <a:ea typeface="Neuton Light"/>
                <a:cs typeface="Neuton Light"/>
                <a:sym typeface="Neuton Light"/>
              </a:rPr>
              <a:t>My pipeline</a:t>
            </a:r>
            <a:endParaRPr/>
          </a:p>
        </p:txBody>
      </p:sp>
      <p:pic>
        <p:nvPicPr>
          <p:cNvPr id="832" name="Google Shape;832;p58" title="Screenshot_20260421_0202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7100" y="1910050"/>
            <a:ext cx="930650" cy="307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58" title="Screenshot_20260421_0204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6900" y="2386896"/>
            <a:ext cx="1882375" cy="1914329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58"/>
          <p:cNvSpPr txBox="1"/>
          <p:nvPr>
            <p:ph idx="2" type="title"/>
          </p:nvPr>
        </p:nvSpPr>
        <p:spPr>
          <a:xfrm>
            <a:off x="5789600" y="1147263"/>
            <a:ext cx="1509300" cy="3774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Filter &amp; Prompt</a:t>
            </a:r>
            <a:endParaRPr sz="1500"/>
          </a:p>
        </p:txBody>
      </p:sp>
      <p:grpSp>
        <p:nvGrpSpPr>
          <p:cNvPr id="835" name="Google Shape;835;p58"/>
          <p:cNvGrpSpPr/>
          <p:nvPr/>
        </p:nvGrpSpPr>
        <p:grpSpPr>
          <a:xfrm>
            <a:off x="195864" y="1182525"/>
            <a:ext cx="4376043" cy="3939495"/>
            <a:chOff x="227492" y="1993675"/>
            <a:chExt cx="4291500" cy="2923125"/>
          </a:xfrm>
        </p:grpSpPr>
        <p:sp>
          <p:nvSpPr>
            <p:cNvPr id="836" name="Google Shape;836;p58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37" name="Google Shape;837;p58"/>
            <p:cNvSpPr/>
            <p:nvPr/>
          </p:nvSpPr>
          <p:spPr>
            <a:xfrm>
              <a:off x="391129" y="1993675"/>
              <a:ext cx="2055971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38" name="Google Shape;838;p58"/>
          <p:cNvSpPr txBox="1"/>
          <p:nvPr>
            <p:ph idx="2" type="title"/>
          </p:nvPr>
        </p:nvSpPr>
        <p:spPr>
          <a:xfrm>
            <a:off x="660650" y="1164987"/>
            <a:ext cx="1509300" cy="7452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Listen to events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Via GSI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</p:txBody>
      </p:sp>
      <p:cxnSp>
        <p:nvCxnSpPr>
          <p:cNvPr id="839" name="Google Shape;839;p58"/>
          <p:cNvCxnSpPr>
            <a:endCxn id="834" idx="1"/>
          </p:cNvCxnSpPr>
          <p:nvPr/>
        </p:nvCxnSpPr>
        <p:spPr>
          <a:xfrm flipH="1" rot="10800000">
            <a:off x="2116400" y="1335963"/>
            <a:ext cx="3673200" cy="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40" name="Google Shape;840;p58" title="Screenshot_20260421_02423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725" y="2052450"/>
            <a:ext cx="1970024" cy="16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58" title="Screenshot_20260421_02435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5199" y="1659388"/>
            <a:ext cx="2213400" cy="336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6" name="Google Shape;846;p59"/>
          <p:cNvGrpSpPr/>
          <p:nvPr/>
        </p:nvGrpSpPr>
        <p:grpSpPr>
          <a:xfrm>
            <a:off x="3605614" y="1095550"/>
            <a:ext cx="2550868" cy="3939479"/>
            <a:chOff x="227492" y="1993687"/>
            <a:chExt cx="4291500" cy="2923113"/>
          </a:xfrm>
        </p:grpSpPr>
        <p:sp>
          <p:nvSpPr>
            <p:cNvPr id="847" name="Google Shape;847;p59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48" name="Google Shape;848;p59"/>
            <p:cNvSpPr/>
            <p:nvPr/>
          </p:nvSpPr>
          <p:spPr>
            <a:xfrm>
              <a:off x="476789" y="1993687"/>
              <a:ext cx="2728198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849" name="Google Shape;849;p59"/>
          <p:cNvGrpSpPr/>
          <p:nvPr/>
        </p:nvGrpSpPr>
        <p:grpSpPr>
          <a:xfrm>
            <a:off x="94300" y="1131775"/>
            <a:ext cx="3446075" cy="3939497"/>
            <a:chOff x="227492" y="1993674"/>
            <a:chExt cx="4291500" cy="2923126"/>
          </a:xfrm>
        </p:grpSpPr>
        <p:sp>
          <p:nvSpPr>
            <p:cNvPr id="850" name="Google Shape;850;p59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51" name="Google Shape;851;p59"/>
            <p:cNvSpPr/>
            <p:nvPr/>
          </p:nvSpPr>
          <p:spPr>
            <a:xfrm>
              <a:off x="346016" y="1993674"/>
              <a:ext cx="2564606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52" name="Google Shape;852;p59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3" name="Google Shape;853;p59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4" name="Google Shape;854;p5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5" name="Google Shape;855;p59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6" name="Google Shape;856;p59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857" name="Google Shape;857;p59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858" name="Google Shape;858;p59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859" name="Google Shape;859;p59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860" name="Google Shape;860;p59"/>
          <p:cNvSpPr txBox="1"/>
          <p:nvPr>
            <p:ph type="title"/>
          </p:nvPr>
        </p:nvSpPr>
        <p:spPr>
          <a:xfrm>
            <a:off x="604325" y="555525"/>
            <a:ext cx="7062000" cy="627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4000">
                <a:latin typeface="Neuton Light"/>
                <a:ea typeface="Neuton Light"/>
                <a:cs typeface="Neuton Light"/>
                <a:sym typeface="Neuton Light"/>
              </a:rPr>
              <a:t>My pipeline</a:t>
            </a:r>
            <a:endParaRPr/>
          </a:p>
        </p:txBody>
      </p:sp>
      <p:pic>
        <p:nvPicPr>
          <p:cNvPr id="861" name="Google Shape;861;p59" title="Screenshot_20260421_0202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75" y="1894550"/>
            <a:ext cx="930650" cy="307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59" title="Screenshot_20260421_0204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6750" y="2325534"/>
            <a:ext cx="1882375" cy="1914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59" title="Screenshot_20260421_02115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2850" y="1592375"/>
            <a:ext cx="2379001" cy="15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59" title="Screenshot_20260421_02145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86812" y="3339850"/>
            <a:ext cx="2379000" cy="483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59"/>
          <p:cNvSpPr txBox="1"/>
          <p:nvPr>
            <p:ph idx="2" type="title"/>
          </p:nvPr>
        </p:nvSpPr>
        <p:spPr>
          <a:xfrm>
            <a:off x="471975" y="1131763"/>
            <a:ext cx="1509300" cy="3774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Filter &amp; Prompt</a:t>
            </a:r>
            <a:endParaRPr sz="1500"/>
          </a:p>
        </p:txBody>
      </p:sp>
      <p:sp>
        <p:nvSpPr>
          <p:cNvPr id="866" name="Google Shape;866;p59"/>
          <p:cNvSpPr txBox="1"/>
          <p:nvPr>
            <p:ph idx="2" type="title"/>
          </p:nvPr>
        </p:nvSpPr>
        <p:spPr>
          <a:xfrm>
            <a:off x="3973475" y="1095550"/>
            <a:ext cx="1305300" cy="3774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Output Json</a:t>
            </a:r>
            <a:endParaRPr sz="1500"/>
          </a:p>
        </p:txBody>
      </p:sp>
      <p:cxnSp>
        <p:nvCxnSpPr>
          <p:cNvPr id="867" name="Google Shape;867;p59"/>
          <p:cNvCxnSpPr>
            <a:stCxn id="865" idx="3"/>
            <a:endCxn id="866" idx="1"/>
          </p:cNvCxnSpPr>
          <p:nvPr/>
        </p:nvCxnSpPr>
        <p:spPr>
          <a:xfrm flipH="1" rot="10800000">
            <a:off x="1981275" y="1284163"/>
            <a:ext cx="1992300" cy="3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60"/>
          <p:cNvGrpSpPr/>
          <p:nvPr/>
        </p:nvGrpSpPr>
        <p:grpSpPr>
          <a:xfrm>
            <a:off x="6283422" y="1182525"/>
            <a:ext cx="2784754" cy="3939479"/>
            <a:chOff x="227492" y="1993687"/>
            <a:chExt cx="4291500" cy="2923113"/>
          </a:xfrm>
        </p:grpSpPr>
        <p:sp>
          <p:nvSpPr>
            <p:cNvPr id="873" name="Google Shape;873;p60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74" name="Google Shape;874;p60"/>
            <p:cNvSpPr/>
            <p:nvPr/>
          </p:nvSpPr>
          <p:spPr>
            <a:xfrm>
              <a:off x="316955" y="1993687"/>
              <a:ext cx="2901077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875" name="Google Shape;875;p60"/>
          <p:cNvGrpSpPr/>
          <p:nvPr/>
        </p:nvGrpSpPr>
        <p:grpSpPr>
          <a:xfrm>
            <a:off x="3605614" y="1095550"/>
            <a:ext cx="2550868" cy="3939479"/>
            <a:chOff x="227492" y="1993687"/>
            <a:chExt cx="4291500" cy="2923113"/>
          </a:xfrm>
        </p:grpSpPr>
        <p:sp>
          <p:nvSpPr>
            <p:cNvPr id="876" name="Google Shape;876;p60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77" name="Google Shape;877;p60"/>
            <p:cNvSpPr/>
            <p:nvPr/>
          </p:nvSpPr>
          <p:spPr>
            <a:xfrm>
              <a:off x="476789" y="1993687"/>
              <a:ext cx="2728198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878" name="Google Shape;878;p60"/>
          <p:cNvGrpSpPr/>
          <p:nvPr/>
        </p:nvGrpSpPr>
        <p:grpSpPr>
          <a:xfrm>
            <a:off x="94300" y="1131775"/>
            <a:ext cx="3446075" cy="3939497"/>
            <a:chOff x="227492" y="1993674"/>
            <a:chExt cx="4291500" cy="2923126"/>
          </a:xfrm>
        </p:grpSpPr>
        <p:sp>
          <p:nvSpPr>
            <p:cNvPr id="879" name="Google Shape;879;p60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0" name="Google Shape;880;p60"/>
            <p:cNvSpPr/>
            <p:nvPr/>
          </p:nvSpPr>
          <p:spPr>
            <a:xfrm>
              <a:off x="346016" y="1993674"/>
              <a:ext cx="2564606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81" name="Google Shape;881;p60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2" name="Google Shape;882;p60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3" name="Google Shape;883;p60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4" name="Google Shape;884;p60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5" name="Google Shape;885;p60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886" name="Google Shape;886;p60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887" name="Google Shape;887;p60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888" name="Google Shape;888;p60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889" name="Google Shape;889;p60"/>
          <p:cNvSpPr txBox="1"/>
          <p:nvPr>
            <p:ph type="title"/>
          </p:nvPr>
        </p:nvSpPr>
        <p:spPr>
          <a:xfrm>
            <a:off x="604325" y="555525"/>
            <a:ext cx="7062000" cy="627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4000">
                <a:latin typeface="Neuton Light"/>
                <a:ea typeface="Neuton Light"/>
                <a:cs typeface="Neuton Light"/>
                <a:sym typeface="Neuton Light"/>
              </a:rPr>
              <a:t>My pipeline</a:t>
            </a:r>
            <a:endParaRPr/>
          </a:p>
        </p:txBody>
      </p:sp>
      <p:pic>
        <p:nvPicPr>
          <p:cNvPr id="890" name="Google Shape;890;p60" title="Screenshot_20260421_0202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75" y="1894550"/>
            <a:ext cx="930650" cy="307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60" title="Screenshot_20260421_0204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8250" y="2318346"/>
            <a:ext cx="1882375" cy="1914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60" title="Screenshot_20260421_02115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2850" y="1592375"/>
            <a:ext cx="2379001" cy="15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60" title="Screenshot_20260421_02145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86812" y="3339850"/>
            <a:ext cx="2379000" cy="48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60" title="Screenshot_20260421_02202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41481" y="3354648"/>
            <a:ext cx="2666968" cy="1325475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60"/>
          <p:cNvSpPr txBox="1"/>
          <p:nvPr>
            <p:ph idx="2" type="title"/>
          </p:nvPr>
        </p:nvSpPr>
        <p:spPr>
          <a:xfrm>
            <a:off x="471975" y="1131763"/>
            <a:ext cx="1509300" cy="3774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Filter &amp; Prompt</a:t>
            </a:r>
            <a:endParaRPr sz="1500"/>
          </a:p>
        </p:txBody>
      </p:sp>
      <p:sp>
        <p:nvSpPr>
          <p:cNvPr id="896" name="Google Shape;896;p60"/>
          <p:cNvSpPr txBox="1"/>
          <p:nvPr>
            <p:ph idx="2" type="title"/>
          </p:nvPr>
        </p:nvSpPr>
        <p:spPr>
          <a:xfrm>
            <a:off x="3973475" y="1095550"/>
            <a:ext cx="1305300" cy="3774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Output Json</a:t>
            </a:r>
            <a:endParaRPr sz="1500"/>
          </a:p>
        </p:txBody>
      </p:sp>
      <p:sp>
        <p:nvSpPr>
          <p:cNvPr id="897" name="Google Shape;897;p60"/>
          <p:cNvSpPr txBox="1"/>
          <p:nvPr>
            <p:ph idx="2" type="title"/>
          </p:nvPr>
        </p:nvSpPr>
        <p:spPr>
          <a:xfrm>
            <a:off x="6561400" y="1182525"/>
            <a:ext cx="1440300" cy="3774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Queue for TTS</a:t>
            </a:r>
            <a:endParaRPr sz="1500"/>
          </a:p>
        </p:txBody>
      </p:sp>
      <p:cxnSp>
        <p:nvCxnSpPr>
          <p:cNvPr id="898" name="Google Shape;898;p60"/>
          <p:cNvCxnSpPr>
            <a:stCxn id="895" idx="3"/>
            <a:endCxn id="896" idx="1"/>
          </p:cNvCxnSpPr>
          <p:nvPr/>
        </p:nvCxnSpPr>
        <p:spPr>
          <a:xfrm flipH="1" rot="10800000">
            <a:off x="1981275" y="1284163"/>
            <a:ext cx="1992300" cy="3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60"/>
          <p:cNvCxnSpPr>
            <a:stCxn id="896" idx="3"/>
            <a:endCxn id="897" idx="1"/>
          </p:cNvCxnSpPr>
          <p:nvPr/>
        </p:nvCxnSpPr>
        <p:spPr>
          <a:xfrm>
            <a:off x="5278775" y="1284250"/>
            <a:ext cx="1282500" cy="8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00" name="Google Shape;900;p60" title="Screenshot_20260421_032810.png"/>
          <p:cNvPicPr preferRelativeResize="0"/>
          <p:nvPr/>
        </p:nvPicPr>
        <p:blipFill rotWithShape="1">
          <a:blip r:embed="rId8">
            <a:alphaModFix/>
          </a:blip>
          <a:srcRect b="32144" l="0" r="0" t="0"/>
          <a:stretch/>
        </p:blipFill>
        <p:spPr>
          <a:xfrm>
            <a:off x="6376050" y="1653325"/>
            <a:ext cx="2583750" cy="160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1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06" name="Google Shape;906;p61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07" name="Google Shape;907;p61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08" name="Google Shape;908;p61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09" name="Google Shape;909;p61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00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10" name="Google Shape;910;p61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11" name="Google Shape;911;p61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12" name="Google Shape;912;p61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13" name="Google Shape;913;p61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000"/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914" name="Google Shape;914;p61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000"/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915" name="Google Shape;915;p61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000"/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916" name="Google Shape;916;p61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000"/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917" name="Google Shape;917;p6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918" name="Google Shape;918;p61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919" name="Google Shape;919;p61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920" name="Google Shape;920;p61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921" name="Google Shape;921;p61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22" name="Google Shape;922;p61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23" name="Google Shape;923;p61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24" name="Google Shape;924;p61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25" name="Google Shape;925;p61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26" name="Google Shape;926;p61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marR="35999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Arial"/>
              <a:buNone/>
            </a:pPr>
            <a:r>
              <a:rPr lang="en"/>
              <a:t>$00</a:t>
            </a:r>
            <a:endParaRPr/>
          </a:p>
        </p:txBody>
      </p:sp>
      <p:sp>
        <p:nvSpPr>
          <p:cNvPr id="927" name="Google Shape;927;p61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marR="35999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Arial"/>
              <a:buNone/>
            </a:pPr>
            <a:r>
              <a:rPr lang="en"/>
              <a:t>$00</a:t>
            </a:r>
            <a:endParaRPr/>
          </a:p>
        </p:txBody>
      </p:sp>
      <p:grpSp>
        <p:nvGrpSpPr>
          <p:cNvPr id="928" name="Google Shape;928;p61"/>
          <p:cNvGrpSpPr/>
          <p:nvPr/>
        </p:nvGrpSpPr>
        <p:grpSpPr>
          <a:xfrm>
            <a:off x="227492" y="1993681"/>
            <a:ext cx="4291500" cy="2923119"/>
            <a:chOff x="227492" y="1993681"/>
            <a:chExt cx="4291500" cy="2923119"/>
          </a:xfrm>
        </p:grpSpPr>
        <p:sp>
          <p:nvSpPr>
            <p:cNvPr id="929" name="Google Shape;929;p61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30" name="Google Shape;930;p61"/>
            <p:cNvSpPr/>
            <p:nvPr/>
          </p:nvSpPr>
          <p:spPr>
            <a:xfrm>
              <a:off x="476806" y="1993681"/>
              <a:ext cx="1797368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931" name="Google Shape;931;p61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marR="35999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Arial"/>
              <a:buNone/>
            </a:pPr>
            <a:r>
              <a:rPr lang="en"/>
              <a:t>$00</a:t>
            </a:r>
            <a:endParaRPr/>
          </a:p>
        </p:txBody>
      </p:sp>
      <p:sp>
        <p:nvSpPr>
          <p:cNvPr id="932" name="Google Shape;932;p61"/>
          <p:cNvSpPr txBox="1"/>
          <p:nvPr>
            <p:ph idx="4294967295" type="subTitle"/>
          </p:nvPr>
        </p:nvSpPr>
        <p:spPr>
          <a:xfrm>
            <a:off x="7549950" y="3447125"/>
            <a:ext cx="4248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933" name="Google Shape;933;p61"/>
          <p:cNvSpPr txBox="1"/>
          <p:nvPr>
            <p:ph idx="4294967295" type="subTitle"/>
          </p:nvPr>
        </p:nvSpPr>
        <p:spPr>
          <a:xfrm>
            <a:off x="6847775" y="3611875"/>
            <a:ext cx="4248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grpSp>
        <p:nvGrpSpPr>
          <p:cNvPr id="934" name="Google Shape;934;p61"/>
          <p:cNvGrpSpPr/>
          <p:nvPr/>
        </p:nvGrpSpPr>
        <p:grpSpPr>
          <a:xfrm>
            <a:off x="4626530" y="1993668"/>
            <a:ext cx="4291500" cy="2923119"/>
            <a:chOff x="227492" y="1993681"/>
            <a:chExt cx="4291500" cy="2923119"/>
          </a:xfrm>
        </p:grpSpPr>
        <p:sp>
          <p:nvSpPr>
            <p:cNvPr id="935" name="Google Shape;935;p61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36" name="Google Shape;936;p61"/>
            <p:cNvSpPr/>
            <p:nvPr/>
          </p:nvSpPr>
          <p:spPr>
            <a:xfrm>
              <a:off x="476806" y="1993681"/>
              <a:ext cx="1797368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937" name="Google Shape;937;p61"/>
          <p:cNvSpPr txBox="1"/>
          <p:nvPr>
            <p:ph idx="4294967295" type="subTitle"/>
          </p:nvPr>
        </p:nvSpPr>
        <p:spPr>
          <a:xfrm>
            <a:off x="6142300" y="3936100"/>
            <a:ext cx="4248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938" name="Google Shape;938;p61"/>
          <p:cNvSpPr txBox="1"/>
          <p:nvPr>
            <p:ph idx="4294967295" type="subTitle"/>
          </p:nvPr>
        </p:nvSpPr>
        <p:spPr>
          <a:xfrm>
            <a:off x="5424800" y="4152425"/>
            <a:ext cx="4248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939" name="Google Shape;939;p61"/>
          <p:cNvSpPr txBox="1"/>
          <p:nvPr>
            <p:ph idx="4294967295" type="subTitle"/>
          </p:nvPr>
        </p:nvSpPr>
        <p:spPr>
          <a:xfrm>
            <a:off x="8245250" y="3349125"/>
            <a:ext cx="4449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940" name="Google Shape;940;p61"/>
          <p:cNvSpPr txBox="1"/>
          <p:nvPr>
            <p:ph idx="4294967295" type="title"/>
          </p:nvPr>
        </p:nvSpPr>
        <p:spPr>
          <a:xfrm>
            <a:off x="596525" y="753325"/>
            <a:ext cx="81723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Events: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41" name="Google Shape;941;p61"/>
          <p:cNvSpPr txBox="1"/>
          <p:nvPr/>
        </p:nvSpPr>
        <p:spPr>
          <a:xfrm>
            <a:off x="473275" y="2473625"/>
            <a:ext cx="4022400" cy="23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40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rPr>
              <a:t>kill, grenade, round completion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2" name="Google Shape;942;p61"/>
          <p:cNvSpPr txBox="1"/>
          <p:nvPr/>
        </p:nvSpPr>
        <p:spPr>
          <a:xfrm>
            <a:off x="4761075" y="2500525"/>
            <a:ext cx="4022400" cy="23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40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rPr>
              <a:t>Insert vid here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2"/>
          <p:cNvSpPr txBox="1"/>
          <p:nvPr/>
        </p:nvSpPr>
        <p:spPr>
          <a:xfrm>
            <a:off x="654450" y="78175"/>
            <a:ext cx="7835100" cy="4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Context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Finals already tried adding ai announcers, but its execution is rather lackluster. I want to expand on it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Why I’m doing this: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Finals already tried adding ai announcers. I want to expand on it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Its fun having live commentary.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Adds character and can provide nuance to live gameplay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Test how feasible it is running locally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Demo: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Events kill, grenade, round completion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Idle analysis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Pipeline: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Listen for live gameplay events/states -&gt; prompt on events and intervals  -&gt; feed into text llm -&gt; feed into tts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Ethics: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Replacing live commentators?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What i learned: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 lot can be done on small models, and it shows promising results. But human caster level nuance might require a slightly bigger model, or a large RAG database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What i would do different: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Explore computing server-side, then streaming audio to clients.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Explore a rule based approach, grabbing live telemetry, generating lines/tts curated with a larger model post match, optional downloadable voicebank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3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53" name="Google Shape;953;p63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54" name="Google Shape;954;p63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55" name="Google Shape;955;p63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956" name="Google Shape;956;p63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7" name="Google Shape;957;p6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 learned</a:t>
            </a:r>
            <a:endParaRPr/>
          </a:p>
        </p:txBody>
      </p:sp>
      <p:sp>
        <p:nvSpPr>
          <p:cNvPr id="958" name="Google Shape;958;p6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959" name="Google Shape;959;p6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960" name="Google Shape;960;p6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961" name="Google Shape;961;p63"/>
          <p:cNvSpPr txBox="1"/>
          <p:nvPr>
            <p:ph idx="5" type="subTitle"/>
          </p:nvPr>
        </p:nvSpPr>
        <p:spPr>
          <a:xfrm>
            <a:off x="116375" y="1663775"/>
            <a:ext cx="8536500" cy="30129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A lot can be done on very small models,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But latency is still very gpu dependent</a:t>
            </a:r>
            <a:endParaRPr/>
          </a:p>
        </p:txBody>
      </p:sp>
      <p:sp>
        <p:nvSpPr>
          <p:cNvPr id="962" name="Google Shape;962;p6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8" name="Google Shape;968;p6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9" name="Google Shape;969;p6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70" name="Google Shape;970;p64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971" name="Google Shape;971;p64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2" name="Google Shape;972;p64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 learned</a:t>
            </a:r>
            <a:endParaRPr/>
          </a:p>
        </p:txBody>
      </p:sp>
      <p:sp>
        <p:nvSpPr>
          <p:cNvPr id="973" name="Google Shape;973;p6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974" name="Google Shape;974;p6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975" name="Google Shape;975;p6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976" name="Google Shape;976;p64"/>
          <p:cNvSpPr txBox="1"/>
          <p:nvPr>
            <p:ph idx="5" type="subTitle"/>
          </p:nvPr>
        </p:nvSpPr>
        <p:spPr>
          <a:xfrm>
            <a:off x="116375" y="1663775"/>
            <a:ext cx="8536500" cy="30129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A lot can be done on very small models,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But latency is still very gpu dependent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Voice cloning and streaming TTS wasn’t too much trouble,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But fine tuning for analysis often varied in subjective quality</a:t>
            </a:r>
            <a:endParaRPr/>
          </a:p>
        </p:txBody>
      </p:sp>
      <p:sp>
        <p:nvSpPr>
          <p:cNvPr id="977" name="Google Shape;977;p6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5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83" name="Google Shape;983;p65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84" name="Google Shape;984;p65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85" name="Google Shape;985;p65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986" name="Google Shape;986;p65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7" name="Google Shape;987;p65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 learned</a:t>
            </a:r>
            <a:endParaRPr/>
          </a:p>
        </p:txBody>
      </p:sp>
      <p:sp>
        <p:nvSpPr>
          <p:cNvPr id="988" name="Google Shape;988;p6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989" name="Google Shape;989;p6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990" name="Google Shape;990;p6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991" name="Google Shape;991;p65"/>
          <p:cNvSpPr txBox="1"/>
          <p:nvPr>
            <p:ph idx="5" type="subTitle"/>
          </p:nvPr>
        </p:nvSpPr>
        <p:spPr>
          <a:xfrm>
            <a:off x="116375" y="1663775"/>
            <a:ext cx="8536500" cy="30129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A lot can be done on very small models,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But latency is still very gpu dependent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Voice cloning and streaming TTS wasn’t too much trouble,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"/>
              <a:t>But fine tuning for analysis often varied in subjective quality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More meaningful analysis requires custom implementation per game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TTS needs to be crafted around pace of a game</a:t>
            </a:r>
            <a:endParaRPr/>
          </a:p>
        </p:txBody>
      </p:sp>
      <p:sp>
        <p:nvSpPr>
          <p:cNvPr id="992" name="Google Shape;992;p65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66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98" name="Google Shape;998;p66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99" name="Google Shape;999;p66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00" name="Google Shape;1000;p66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001" name="Google Shape;1001;p66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2" name="Google Shape;1002;p66"/>
          <p:cNvCxnSpPr/>
          <p:nvPr/>
        </p:nvCxnSpPr>
        <p:spPr>
          <a:xfrm rot="10800000">
            <a:off x="775" y="23406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3" name="Google Shape;1003;p66"/>
          <p:cNvCxnSpPr/>
          <p:nvPr/>
        </p:nvCxnSpPr>
        <p:spPr>
          <a:xfrm rot="10800000">
            <a:off x="-264" y="30177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4" name="Google Shape;1004;p66"/>
          <p:cNvCxnSpPr/>
          <p:nvPr/>
        </p:nvCxnSpPr>
        <p:spPr>
          <a:xfrm rot="10800000">
            <a:off x="-264" y="36948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5" name="Google Shape;1005;p66"/>
          <p:cNvCxnSpPr/>
          <p:nvPr/>
        </p:nvCxnSpPr>
        <p:spPr>
          <a:xfrm rot="10800000">
            <a:off x="406" y="43719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6" name="Google Shape;1006;p66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Goals met?</a:t>
            </a:r>
            <a:endParaRPr/>
          </a:p>
        </p:txBody>
      </p:sp>
      <p:sp>
        <p:nvSpPr>
          <p:cNvPr id="1007" name="Google Shape;1007;p6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008" name="Google Shape;1008;p66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009" name="Google Shape;1009;p66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010" name="Google Shape;1010;p66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Outline how you will achieve the strategic plan, step by step.</a:t>
            </a:r>
            <a:endParaRPr/>
          </a:p>
        </p:txBody>
      </p:sp>
      <p:sp>
        <p:nvSpPr>
          <p:cNvPr id="1011" name="Google Shape;1011;p66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Outline how you will achieve the strategic plan, step by step.</a:t>
            </a:r>
            <a:endParaRPr/>
          </a:p>
        </p:txBody>
      </p:sp>
      <p:sp>
        <p:nvSpPr>
          <p:cNvPr id="1012" name="Google Shape;1012;p66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Outline how you will achieve the strategic plan, step by step.</a:t>
            </a:r>
            <a:endParaRPr/>
          </a:p>
        </p:txBody>
      </p:sp>
      <p:sp>
        <p:nvSpPr>
          <p:cNvPr id="1013" name="Google Shape;1013;p66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Milestone 3</a:t>
            </a:r>
            <a:endParaRPr/>
          </a:p>
        </p:txBody>
      </p:sp>
      <p:sp>
        <p:nvSpPr>
          <p:cNvPr id="1014" name="Google Shape;1014;p66"/>
          <p:cNvSpPr txBox="1"/>
          <p:nvPr>
            <p:ph idx="5" type="subTitle"/>
          </p:nvPr>
        </p:nvSpPr>
        <p:spPr>
          <a:xfrm>
            <a:off x="775" y="1668050"/>
            <a:ext cx="40065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 fontScale="62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Steam Hardware Survey as our target hardware:</a:t>
            </a:r>
            <a:endParaRPr/>
          </a:p>
        </p:txBody>
      </p:sp>
      <p:sp>
        <p:nvSpPr>
          <p:cNvPr id="1015" name="Google Shape;1015;p66"/>
          <p:cNvSpPr txBox="1"/>
          <p:nvPr>
            <p:ph idx="6" type="subTitle"/>
          </p:nvPr>
        </p:nvSpPr>
        <p:spPr>
          <a:xfrm>
            <a:off x="4396475" y="1668050"/>
            <a:ext cx="4583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RTX 3060 8GB vram</a:t>
            </a:r>
            <a:endParaRPr/>
          </a:p>
        </p:txBody>
      </p:sp>
      <p:sp>
        <p:nvSpPr>
          <p:cNvPr id="1016" name="Google Shape;1016;p66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Milestone 4</a:t>
            </a:r>
            <a:endParaRPr/>
          </a:p>
        </p:txBody>
      </p:sp>
      <p:sp>
        <p:nvSpPr>
          <p:cNvPr id="1017" name="Google Shape;1017;p66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Quarter, Year</a:t>
            </a:r>
            <a:endParaRPr/>
          </a:p>
        </p:txBody>
      </p:sp>
      <p:sp>
        <p:nvSpPr>
          <p:cNvPr id="1018" name="Google Shape;1018;p66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Quarter, Year</a:t>
            </a:r>
            <a:endParaRPr/>
          </a:p>
        </p:txBody>
      </p:sp>
      <p:sp>
        <p:nvSpPr>
          <p:cNvPr id="1019" name="Google Shape;1019;p66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pic>
        <p:nvPicPr>
          <p:cNvPr id="1020" name="Google Shape;1020;p66" title="Screenshot_20260421_0416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5" y="2340600"/>
            <a:ext cx="9143999" cy="2227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6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26" name="Google Shape;1026;p67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27" name="Google Shape;1027;p67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28" name="Google Shape;1028;p67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029" name="Google Shape;1029;p67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0" name="Google Shape;1030;p67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Goals met?</a:t>
            </a:r>
            <a:endParaRPr/>
          </a:p>
        </p:txBody>
      </p:sp>
      <p:sp>
        <p:nvSpPr>
          <p:cNvPr id="1031" name="Google Shape;1031;p6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032" name="Google Shape;1032;p6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033" name="Google Shape;1033;p6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034" name="Google Shape;1034;p67"/>
          <p:cNvSpPr txBox="1"/>
          <p:nvPr>
            <p:ph idx="5" type="subTitle"/>
          </p:nvPr>
        </p:nvSpPr>
        <p:spPr>
          <a:xfrm>
            <a:off x="0" y="1663775"/>
            <a:ext cx="6637500" cy="12930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My Hardware: RTX 4080 12GB vram Laptop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				X86_64 Linux Desktop</a:t>
            </a:r>
            <a:endParaRPr/>
          </a:p>
        </p:txBody>
      </p:sp>
      <p:sp>
        <p:nvSpPr>
          <p:cNvPr id="1035" name="Google Shape;1035;p67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68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1" name="Google Shape;1041;p68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2" name="Google Shape;1042;p68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3" name="Google Shape;1043;p68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044" name="Google Shape;1044;p68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5" name="Google Shape;1045;p68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Goals met?</a:t>
            </a:r>
            <a:endParaRPr/>
          </a:p>
        </p:txBody>
      </p:sp>
      <p:sp>
        <p:nvSpPr>
          <p:cNvPr id="1046" name="Google Shape;1046;p68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047" name="Google Shape;1047;p68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048" name="Google Shape;1048;p68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049" name="Google Shape;1049;p68"/>
          <p:cNvSpPr txBox="1"/>
          <p:nvPr>
            <p:ph idx="5" type="subTitle"/>
          </p:nvPr>
        </p:nvSpPr>
        <p:spPr>
          <a:xfrm>
            <a:off x="0" y="1663775"/>
            <a:ext cx="4396200" cy="4836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 fontScale="85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My Hardware: RTX 4080 12GB Laptop</a:t>
            </a:r>
            <a:endParaRPr/>
          </a:p>
        </p:txBody>
      </p:sp>
      <p:sp>
        <p:nvSpPr>
          <p:cNvPr id="1050" name="Google Shape;1050;p68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1051" name="Google Shape;1051;p68"/>
          <p:cNvSpPr txBox="1"/>
          <p:nvPr>
            <p:ph idx="5" type="subTitle"/>
          </p:nvPr>
        </p:nvSpPr>
        <p:spPr>
          <a:xfrm>
            <a:off x="0" y="2244150"/>
            <a:ext cx="4396200" cy="4836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Text model vram usage: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About 2.6GB</a:t>
            </a:r>
            <a:endParaRPr/>
          </a:p>
        </p:txBody>
      </p:sp>
      <p:pic>
        <p:nvPicPr>
          <p:cNvPr id="1052" name="Google Shape;1052;p68" title="Screenshot_20260421_0426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0550" y="2045314"/>
            <a:ext cx="6763324" cy="3098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6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58" name="Google Shape;1058;p69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59" name="Google Shape;1059;p69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60" name="Google Shape;1060;p69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061" name="Google Shape;1061;p69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2" name="Google Shape;1062;p69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Goals met?</a:t>
            </a:r>
            <a:endParaRPr/>
          </a:p>
        </p:txBody>
      </p:sp>
      <p:sp>
        <p:nvSpPr>
          <p:cNvPr id="1063" name="Google Shape;1063;p69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064" name="Google Shape;1064;p69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065" name="Google Shape;1065;p69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066" name="Google Shape;1066;p69"/>
          <p:cNvSpPr txBox="1"/>
          <p:nvPr>
            <p:ph idx="5" type="subTitle"/>
          </p:nvPr>
        </p:nvSpPr>
        <p:spPr>
          <a:xfrm>
            <a:off x="0" y="1663775"/>
            <a:ext cx="4396200" cy="4836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 fontScale="85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My Hardware: RTX 4080 12GB Laptop</a:t>
            </a:r>
            <a:endParaRPr/>
          </a:p>
        </p:txBody>
      </p:sp>
      <p:sp>
        <p:nvSpPr>
          <p:cNvPr id="1067" name="Google Shape;1067;p69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1068" name="Google Shape;1068;p69"/>
          <p:cNvSpPr txBox="1"/>
          <p:nvPr>
            <p:ph idx="5" type="subTitle"/>
          </p:nvPr>
        </p:nvSpPr>
        <p:spPr>
          <a:xfrm>
            <a:off x="0" y="2244150"/>
            <a:ext cx="4396200" cy="4836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TTS model vram usage: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About 2.8GB</a:t>
            </a:r>
            <a:endParaRPr/>
          </a:p>
        </p:txBody>
      </p:sp>
      <p:pic>
        <p:nvPicPr>
          <p:cNvPr id="1069" name="Google Shape;1069;p69" title="Screenshot_20260421_0431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0546" y="2030762"/>
            <a:ext cx="6763324" cy="3112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0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5" name="Google Shape;1075;p70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6" name="Google Shape;1076;p70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7" name="Google Shape;1077;p70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078" name="Google Shape;1078;p70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9" name="Google Shape;1079;p70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Goal met</a:t>
            </a:r>
            <a:endParaRPr/>
          </a:p>
        </p:txBody>
      </p:sp>
      <p:sp>
        <p:nvSpPr>
          <p:cNvPr id="1080" name="Google Shape;1080;p70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081" name="Google Shape;1081;p70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082" name="Google Shape;1082;p70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083" name="Google Shape;1083;p70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1084" name="Google Shape;1084;p70"/>
          <p:cNvSpPr txBox="1"/>
          <p:nvPr>
            <p:ph idx="17" type="title"/>
          </p:nvPr>
        </p:nvSpPr>
        <p:spPr>
          <a:xfrm>
            <a:off x="54475" y="1925350"/>
            <a:ext cx="2440800" cy="2456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lang="en" sz="2600"/>
              <a:t>Success-</a:t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lang="en" sz="2600"/>
              <a:t>And both running only uses 4.8 instead of  5.3 GB??</a:t>
            </a:r>
            <a:endParaRPr sz="2600"/>
          </a:p>
        </p:txBody>
      </p:sp>
      <p:pic>
        <p:nvPicPr>
          <p:cNvPr id="1085" name="Google Shape;1085;p70" title="Screenshot_20260421_0435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450" y="1663775"/>
            <a:ext cx="6648425" cy="308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71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91" name="Google Shape;1091;p71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92" name="Google Shape;1092;p71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93" name="Google Shape;1093;p71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094" name="Google Shape;1094;p71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5" name="Google Shape;1095;p71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Goals met?</a:t>
            </a:r>
            <a:endParaRPr/>
          </a:p>
        </p:txBody>
      </p:sp>
      <p:sp>
        <p:nvSpPr>
          <p:cNvPr id="1096" name="Google Shape;1096;p7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097" name="Google Shape;1097;p7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098" name="Google Shape;1098;p7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099" name="Google Shape;1099;p71"/>
          <p:cNvSpPr txBox="1"/>
          <p:nvPr>
            <p:ph idx="5" type="subTitle"/>
          </p:nvPr>
        </p:nvSpPr>
        <p:spPr>
          <a:xfrm>
            <a:off x="775" y="1663775"/>
            <a:ext cx="78507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Latency target for time to hear a sentence start:</a:t>
            </a:r>
            <a:endParaRPr/>
          </a:p>
        </p:txBody>
      </p:sp>
      <p:sp>
        <p:nvSpPr>
          <p:cNvPr id="1100" name="Google Shape;1100;p7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pic>
        <p:nvPicPr>
          <p:cNvPr id="1101" name="Google Shape;1101;p71" title="Screenshot_20260421_0451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" y="2038175"/>
            <a:ext cx="3568015" cy="28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6" name="Google Shape;1106;p72" title="Screenshot_20260421_0655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1025" y="1663775"/>
            <a:ext cx="2706300" cy="26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72" title="Screenshot_20260421_0654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4675" y="1663775"/>
            <a:ext cx="2706300" cy="309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7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09" name="Google Shape;1109;p7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10" name="Google Shape;1110;p7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11" name="Google Shape;1111;p72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12" name="Google Shape;1112;p72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3" name="Google Shape;1113;p72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Goals met?</a:t>
            </a:r>
            <a:endParaRPr/>
          </a:p>
        </p:txBody>
      </p:sp>
      <p:sp>
        <p:nvSpPr>
          <p:cNvPr id="1114" name="Google Shape;1114;p7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115" name="Google Shape;1115;p7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116" name="Google Shape;1116;p7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117" name="Google Shape;1117;p72"/>
          <p:cNvSpPr txBox="1"/>
          <p:nvPr>
            <p:ph idx="5" type="subTitle"/>
          </p:nvPr>
        </p:nvSpPr>
        <p:spPr>
          <a:xfrm>
            <a:off x="775" y="1617075"/>
            <a:ext cx="3723900" cy="31749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Time to start TTS streaming +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Time between TTS streams: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0.9s individually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1.6s batching 2 at a time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&gt;0.05s sequencing</a:t>
            </a:r>
            <a:endParaRPr/>
          </a:p>
        </p:txBody>
      </p:sp>
      <p:sp>
        <p:nvSpPr>
          <p:cNvPr id="1118" name="Google Shape;1118;p7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sp>
        <p:nvSpPr>
          <p:cNvPr id="1119" name="Google Shape;1119;p72"/>
          <p:cNvSpPr/>
          <p:nvPr/>
        </p:nvSpPr>
        <p:spPr>
          <a:xfrm>
            <a:off x="3724675" y="4285875"/>
            <a:ext cx="1839000" cy="218100"/>
          </a:xfrm>
          <a:prstGeom prst="ellipse">
            <a:avLst/>
          </a:prstGeom>
          <a:noFill/>
          <a:ln cap="flat" cmpd="sng" w="9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12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20" name="Google Shape;1120;p72"/>
          <p:cNvSpPr/>
          <p:nvPr/>
        </p:nvSpPr>
        <p:spPr>
          <a:xfrm>
            <a:off x="6553875" y="3481150"/>
            <a:ext cx="1839000" cy="218100"/>
          </a:xfrm>
          <a:prstGeom prst="ellipse">
            <a:avLst/>
          </a:prstGeom>
          <a:noFill/>
          <a:ln cap="flat" cmpd="sng" w="9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12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21" name="Google Shape;1121;p72"/>
          <p:cNvSpPr/>
          <p:nvPr/>
        </p:nvSpPr>
        <p:spPr>
          <a:xfrm>
            <a:off x="6553875" y="2886900"/>
            <a:ext cx="2318100" cy="280200"/>
          </a:xfrm>
          <a:prstGeom prst="ellipse">
            <a:avLst/>
          </a:prstGeom>
          <a:noFill/>
          <a:ln cap="flat" cmpd="sng" w="9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12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73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27" name="Google Shape;1127;p73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28" name="Google Shape;1128;p73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29" name="Google Shape;1129;p73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30" name="Google Shape;1130;p73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1" name="Google Shape;1131;p7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Goals met?</a:t>
            </a:r>
            <a:endParaRPr/>
          </a:p>
        </p:txBody>
      </p:sp>
      <p:sp>
        <p:nvSpPr>
          <p:cNvPr id="1132" name="Google Shape;1132;p7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133" name="Google Shape;1133;p7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134" name="Google Shape;1134;p7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135" name="Google Shape;1135;p73"/>
          <p:cNvSpPr txBox="1"/>
          <p:nvPr>
            <p:ph idx="5" type="subTitle"/>
          </p:nvPr>
        </p:nvSpPr>
        <p:spPr>
          <a:xfrm>
            <a:off x="775" y="1663775"/>
            <a:ext cx="4691400" cy="10908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Slow on start. Sequenced is good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Overall.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Not ideal.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136" name="Google Shape;1136;p7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  <p:pic>
        <p:nvPicPr>
          <p:cNvPr id="1137" name="Google Shape;1137;p73" title="Screenshot_20260421_0451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925" y="1663775"/>
            <a:ext cx="3568015" cy="28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73"/>
          <p:cNvSpPr/>
          <p:nvPr/>
        </p:nvSpPr>
        <p:spPr>
          <a:xfrm>
            <a:off x="4987875" y="4038550"/>
            <a:ext cx="3255300" cy="604800"/>
          </a:xfrm>
          <a:prstGeom prst="ellipse">
            <a:avLst/>
          </a:prstGeom>
          <a:noFill/>
          <a:ln cap="flat" cmpd="sng" w="9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12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39" name="Google Shape;1139;p73"/>
          <p:cNvSpPr/>
          <p:nvPr/>
        </p:nvSpPr>
        <p:spPr>
          <a:xfrm>
            <a:off x="4948975" y="4038550"/>
            <a:ext cx="3255300" cy="604800"/>
          </a:xfrm>
          <a:prstGeom prst="ellipse">
            <a:avLst/>
          </a:prstGeom>
          <a:noFill/>
          <a:ln cap="flat" cmpd="sng" w="9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12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40" name="Google Shape;1140;p73"/>
          <p:cNvSpPr/>
          <p:nvPr/>
        </p:nvSpPr>
        <p:spPr>
          <a:xfrm>
            <a:off x="5028288" y="4038550"/>
            <a:ext cx="3255300" cy="604800"/>
          </a:xfrm>
          <a:prstGeom prst="ellipse">
            <a:avLst/>
          </a:prstGeom>
          <a:noFill/>
          <a:ln cap="flat" cmpd="sng" w="9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12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7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46" name="Google Shape;1146;p7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47" name="Google Shape;1147;p7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48" name="Google Shape;1148;p74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49" name="Google Shape;1149;p74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0" name="Google Shape;1150;p74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Goals met?</a:t>
            </a:r>
            <a:endParaRPr/>
          </a:p>
        </p:txBody>
      </p:sp>
      <p:sp>
        <p:nvSpPr>
          <p:cNvPr id="1151" name="Google Shape;1151;p7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152" name="Google Shape;1152;p7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153" name="Google Shape;1153;p7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154" name="Google Shape;1154;p74"/>
          <p:cNvSpPr txBox="1"/>
          <p:nvPr>
            <p:ph idx="5" type="subTitle"/>
          </p:nvPr>
        </p:nvSpPr>
        <p:spPr>
          <a:xfrm>
            <a:off x="0" y="1663775"/>
            <a:ext cx="6637500" cy="12930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Gameplay analysis quality?: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Personally, I think it </a:t>
            </a:r>
            <a:r>
              <a:rPr lang="en"/>
              <a:t>leaves</a:t>
            </a:r>
            <a:r>
              <a:rPr lang="en"/>
              <a:t> a lot to be desired right now</a:t>
            </a:r>
            <a:endParaRPr/>
          </a:p>
        </p:txBody>
      </p:sp>
      <p:sp>
        <p:nvSpPr>
          <p:cNvPr id="1155" name="Google Shape;1155;p7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75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61" name="Google Shape;1161;p75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62" name="Google Shape;1162;p75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63" name="Google Shape;1163;p75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64" name="Google Shape;1164;p75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5" name="Google Shape;1165;p75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If I had more time</a:t>
            </a:r>
            <a:endParaRPr/>
          </a:p>
        </p:txBody>
      </p:sp>
      <p:sp>
        <p:nvSpPr>
          <p:cNvPr id="1166" name="Google Shape;1166;p7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167" name="Google Shape;1167;p7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168" name="Google Shape;1168;p7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169" name="Google Shape;1169;p75"/>
          <p:cNvSpPr txBox="1"/>
          <p:nvPr>
            <p:ph idx="5" type="subTitle"/>
          </p:nvPr>
        </p:nvSpPr>
        <p:spPr>
          <a:xfrm>
            <a:off x="417450" y="1663775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Try a server-side approach</a:t>
            </a:r>
            <a:endParaRPr/>
          </a:p>
        </p:txBody>
      </p:sp>
      <p:sp>
        <p:nvSpPr>
          <p:cNvPr id="1170" name="Google Shape;1170;p75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76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76" name="Google Shape;1176;p76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77" name="Google Shape;1177;p76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78" name="Google Shape;1178;p76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79" name="Google Shape;1179;p76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0" name="Google Shape;1180;p76"/>
          <p:cNvCxnSpPr/>
          <p:nvPr/>
        </p:nvCxnSpPr>
        <p:spPr>
          <a:xfrm rot="10800000">
            <a:off x="775" y="23406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1" name="Google Shape;1181;p76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If I had more time</a:t>
            </a:r>
            <a:endParaRPr/>
          </a:p>
        </p:txBody>
      </p:sp>
      <p:sp>
        <p:nvSpPr>
          <p:cNvPr id="1182" name="Google Shape;1182;p7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183" name="Google Shape;1183;p76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184" name="Google Shape;1184;p76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185" name="Google Shape;1185;p76"/>
          <p:cNvSpPr txBox="1"/>
          <p:nvPr>
            <p:ph idx="5" type="subTitle"/>
          </p:nvPr>
        </p:nvSpPr>
        <p:spPr>
          <a:xfrm>
            <a:off x="417450" y="1663775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Try a server-side approach</a:t>
            </a:r>
            <a:endParaRPr/>
          </a:p>
        </p:txBody>
      </p:sp>
      <p:sp>
        <p:nvSpPr>
          <p:cNvPr id="1186" name="Google Shape;1186;p76"/>
          <p:cNvSpPr txBox="1"/>
          <p:nvPr>
            <p:ph idx="6" type="subTitle"/>
          </p:nvPr>
        </p:nvSpPr>
        <p:spPr>
          <a:xfrm>
            <a:off x="417450" y="2340600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Simulate ping for tts streaming</a:t>
            </a:r>
            <a:endParaRPr/>
          </a:p>
        </p:txBody>
      </p:sp>
      <p:sp>
        <p:nvSpPr>
          <p:cNvPr id="1187" name="Google Shape;1187;p76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7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93" name="Google Shape;1193;p77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94" name="Google Shape;1194;p77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95" name="Google Shape;1195;p77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96" name="Google Shape;1196;p77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7" name="Google Shape;1197;p77"/>
          <p:cNvCxnSpPr/>
          <p:nvPr/>
        </p:nvCxnSpPr>
        <p:spPr>
          <a:xfrm rot="10800000">
            <a:off x="775" y="23406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8" name="Google Shape;1198;p77"/>
          <p:cNvCxnSpPr/>
          <p:nvPr/>
        </p:nvCxnSpPr>
        <p:spPr>
          <a:xfrm rot="10800000">
            <a:off x="-264" y="30177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9" name="Google Shape;1199;p77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If I had more time</a:t>
            </a:r>
            <a:endParaRPr/>
          </a:p>
        </p:txBody>
      </p:sp>
      <p:sp>
        <p:nvSpPr>
          <p:cNvPr id="1200" name="Google Shape;1200;p7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201" name="Google Shape;1201;p7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202" name="Google Shape;1202;p7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203" name="Google Shape;1203;p77"/>
          <p:cNvSpPr txBox="1"/>
          <p:nvPr>
            <p:ph idx="4" type="subTitle"/>
          </p:nvPr>
        </p:nvSpPr>
        <p:spPr>
          <a:xfrm>
            <a:off x="419960" y="3017700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Higher quality training data and support for more maps</a:t>
            </a:r>
            <a:endParaRPr/>
          </a:p>
        </p:txBody>
      </p:sp>
      <p:sp>
        <p:nvSpPr>
          <p:cNvPr id="1204" name="Google Shape;1204;p77"/>
          <p:cNvSpPr txBox="1"/>
          <p:nvPr>
            <p:ph idx="5" type="subTitle"/>
          </p:nvPr>
        </p:nvSpPr>
        <p:spPr>
          <a:xfrm>
            <a:off x="417450" y="1663775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Try a server-side approach</a:t>
            </a:r>
            <a:endParaRPr/>
          </a:p>
        </p:txBody>
      </p:sp>
      <p:sp>
        <p:nvSpPr>
          <p:cNvPr id="1205" name="Google Shape;1205;p77"/>
          <p:cNvSpPr txBox="1"/>
          <p:nvPr>
            <p:ph idx="6" type="subTitle"/>
          </p:nvPr>
        </p:nvSpPr>
        <p:spPr>
          <a:xfrm>
            <a:off x="417450" y="2340600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Simulate ping for tts streaming</a:t>
            </a:r>
            <a:endParaRPr/>
          </a:p>
        </p:txBody>
      </p:sp>
      <p:sp>
        <p:nvSpPr>
          <p:cNvPr id="1206" name="Google Shape;1206;p77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78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12" name="Google Shape;1212;p78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13" name="Google Shape;1213;p78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14" name="Google Shape;1214;p78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215" name="Google Shape;1215;p78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6" name="Google Shape;1216;p78"/>
          <p:cNvCxnSpPr/>
          <p:nvPr/>
        </p:nvCxnSpPr>
        <p:spPr>
          <a:xfrm rot="10800000">
            <a:off x="775" y="23406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7" name="Google Shape;1217;p78"/>
          <p:cNvCxnSpPr/>
          <p:nvPr/>
        </p:nvCxnSpPr>
        <p:spPr>
          <a:xfrm rot="10800000">
            <a:off x="-264" y="30177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8" name="Google Shape;1218;p78"/>
          <p:cNvCxnSpPr/>
          <p:nvPr/>
        </p:nvCxnSpPr>
        <p:spPr>
          <a:xfrm rot="10800000">
            <a:off x="-264" y="36948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9" name="Google Shape;1219;p78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If I had more time</a:t>
            </a:r>
            <a:endParaRPr/>
          </a:p>
        </p:txBody>
      </p:sp>
      <p:sp>
        <p:nvSpPr>
          <p:cNvPr id="1220" name="Google Shape;1220;p78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221" name="Google Shape;1221;p78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222" name="Google Shape;1222;p78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223" name="Google Shape;1223;p78"/>
          <p:cNvSpPr txBox="1"/>
          <p:nvPr>
            <p:ph idx="4" type="subTitle"/>
          </p:nvPr>
        </p:nvSpPr>
        <p:spPr>
          <a:xfrm>
            <a:off x="419960" y="3017700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Higher quality training data and support for more maps</a:t>
            </a:r>
            <a:endParaRPr/>
          </a:p>
        </p:txBody>
      </p:sp>
      <p:sp>
        <p:nvSpPr>
          <p:cNvPr id="1224" name="Google Shape;1224;p78"/>
          <p:cNvSpPr txBox="1"/>
          <p:nvPr>
            <p:ph idx="5" type="subTitle"/>
          </p:nvPr>
        </p:nvSpPr>
        <p:spPr>
          <a:xfrm>
            <a:off x="417450" y="1663775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Try a server-side approach</a:t>
            </a:r>
            <a:endParaRPr/>
          </a:p>
        </p:txBody>
      </p:sp>
      <p:sp>
        <p:nvSpPr>
          <p:cNvPr id="1225" name="Google Shape;1225;p78"/>
          <p:cNvSpPr txBox="1"/>
          <p:nvPr>
            <p:ph idx="6" type="subTitle"/>
          </p:nvPr>
        </p:nvSpPr>
        <p:spPr>
          <a:xfrm>
            <a:off x="417450" y="2340600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Simulate ping for tts streaming</a:t>
            </a:r>
            <a:endParaRPr/>
          </a:p>
        </p:txBody>
      </p:sp>
      <p:sp>
        <p:nvSpPr>
          <p:cNvPr id="1226" name="Google Shape;1226;p78"/>
          <p:cNvSpPr txBox="1"/>
          <p:nvPr>
            <p:ph idx="7" type="subTitle"/>
          </p:nvPr>
        </p:nvSpPr>
        <p:spPr>
          <a:xfrm>
            <a:off x="417450" y="3694800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Fine tune bigger models for better generalizing analysis</a:t>
            </a:r>
            <a:endParaRPr/>
          </a:p>
        </p:txBody>
      </p:sp>
      <p:sp>
        <p:nvSpPr>
          <p:cNvPr id="1227" name="Google Shape;1227;p78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7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33" name="Google Shape;1233;p79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34" name="Google Shape;1234;p79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35" name="Google Shape;1235;p79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236" name="Google Shape;1236;p79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7" name="Google Shape;1237;p79"/>
          <p:cNvCxnSpPr/>
          <p:nvPr/>
        </p:nvCxnSpPr>
        <p:spPr>
          <a:xfrm rot="10800000">
            <a:off x="775" y="23406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8" name="Google Shape;1238;p79"/>
          <p:cNvCxnSpPr/>
          <p:nvPr/>
        </p:nvCxnSpPr>
        <p:spPr>
          <a:xfrm rot="10800000">
            <a:off x="-264" y="30177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9" name="Google Shape;1239;p79"/>
          <p:cNvCxnSpPr/>
          <p:nvPr/>
        </p:nvCxnSpPr>
        <p:spPr>
          <a:xfrm rot="10800000">
            <a:off x="-264" y="36948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0" name="Google Shape;1240;p79"/>
          <p:cNvCxnSpPr/>
          <p:nvPr/>
        </p:nvCxnSpPr>
        <p:spPr>
          <a:xfrm rot="10800000">
            <a:off x="406" y="43719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1" name="Google Shape;1241;p79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If I had more time</a:t>
            </a:r>
            <a:endParaRPr/>
          </a:p>
        </p:txBody>
      </p:sp>
      <p:sp>
        <p:nvSpPr>
          <p:cNvPr id="1242" name="Google Shape;1242;p79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243" name="Google Shape;1243;p79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244" name="Google Shape;1244;p79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245" name="Google Shape;1245;p79"/>
          <p:cNvSpPr txBox="1"/>
          <p:nvPr>
            <p:ph idx="4" type="subTitle"/>
          </p:nvPr>
        </p:nvSpPr>
        <p:spPr>
          <a:xfrm>
            <a:off x="419960" y="3017700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Higher quality training data and support for more maps</a:t>
            </a:r>
            <a:endParaRPr/>
          </a:p>
        </p:txBody>
      </p:sp>
      <p:sp>
        <p:nvSpPr>
          <p:cNvPr id="1246" name="Google Shape;1246;p79"/>
          <p:cNvSpPr txBox="1"/>
          <p:nvPr>
            <p:ph idx="5" type="subTitle"/>
          </p:nvPr>
        </p:nvSpPr>
        <p:spPr>
          <a:xfrm>
            <a:off x="417450" y="1663775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Try a server-side approach</a:t>
            </a:r>
            <a:endParaRPr/>
          </a:p>
        </p:txBody>
      </p:sp>
      <p:sp>
        <p:nvSpPr>
          <p:cNvPr id="1247" name="Google Shape;1247;p79"/>
          <p:cNvSpPr txBox="1"/>
          <p:nvPr>
            <p:ph idx="6" type="subTitle"/>
          </p:nvPr>
        </p:nvSpPr>
        <p:spPr>
          <a:xfrm>
            <a:off x="417450" y="2340600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Simulate ping for tts streaming</a:t>
            </a:r>
            <a:endParaRPr/>
          </a:p>
        </p:txBody>
      </p:sp>
      <p:sp>
        <p:nvSpPr>
          <p:cNvPr id="1248" name="Google Shape;1248;p79"/>
          <p:cNvSpPr txBox="1"/>
          <p:nvPr>
            <p:ph idx="7" type="subTitle"/>
          </p:nvPr>
        </p:nvSpPr>
        <p:spPr>
          <a:xfrm>
            <a:off x="417450" y="3694800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Fine tune bigger models for better generalizing analysis</a:t>
            </a:r>
            <a:endParaRPr/>
          </a:p>
        </p:txBody>
      </p:sp>
      <p:sp>
        <p:nvSpPr>
          <p:cNvPr id="1249" name="Google Shape;1249;p79"/>
          <p:cNvSpPr txBox="1"/>
          <p:nvPr>
            <p:ph idx="8" type="subTitle"/>
          </p:nvPr>
        </p:nvSpPr>
        <p:spPr>
          <a:xfrm>
            <a:off x="417450" y="4367075"/>
            <a:ext cx="7820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Look at fine tuning the TTS model itself</a:t>
            </a:r>
            <a:endParaRPr/>
          </a:p>
        </p:txBody>
      </p:sp>
      <p:sp>
        <p:nvSpPr>
          <p:cNvPr id="1250" name="Google Shape;1250;p79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80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56" name="Google Shape;1256;p80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57" name="Google Shape;1257;p80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58" name="Google Shape;1258;p80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259" name="Google Shape;1259;p80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0" name="Google Shape;1260;p80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Ethics</a:t>
            </a:r>
            <a:endParaRPr/>
          </a:p>
        </p:txBody>
      </p:sp>
      <p:sp>
        <p:nvSpPr>
          <p:cNvPr id="1261" name="Google Shape;1261;p80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262" name="Google Shape;1262;p80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263" name="Google Shape;1263;p80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264" name="Google Shape;1264;p80"/>
          <p:cNvSpPr txBox="1"/>
          <p:nvPr>
            <p:ph idx="5" type="subTitle"/>
          </p:nvPr>
        </p:nvSpPr>
        <p:spPr>
          <a:xfrm>
            <a:off x="775" y="1663775"/>
            <a:ext cx="9143100" cy="3443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Voice cloning sits in a sensitive social spot. Examples like Deepfakes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265" name="Google Shape;1265;p80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81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71" name="Google Shape;1271;p81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72" name="Google Shape;1272;p81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73" name="Google Shape;1273;p81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274" name="Google Shape;1274;p81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5" name="Google Shape;1275;p81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Ethics</a:t>
            </a:r>
            <a:endParaRPr/>
          </a:p>
        </p:txBody>
      </p:sp>
      <p:sp>
        <p:nvSpPr>
          <p:cNvPr id="1276" name="Google Shape;1276;p8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277" name="Google Shape;1277;p8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278" name="Google Shape;1278;p8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279" name="Google Shape;1279;p81"/>
          <p:cNvSpPr txBox="1"/>
          <p:nvPr>
            <p:ph idx="5" type="subTitle"/>
          </p:nvPr>
        </p:nvSpPr>
        <p:spPr>
          <a:xfrm>
            <a:off x="775" y="1663775"/>
            <a:ext cx="9143100" cy="3443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Voice cloning sits in a sensitive social spot. Examples like Deepfakes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Biggest risks for pipelines like these are impersonation or unauthorized voice use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280" name="Google Shape;1280;p8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8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86" name="Google Shape;1286;p8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87" name="Google Shape;1287;p8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88" name="Google Shape;1288;p82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289" name="Google Shape;1289;p82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0" name="Google Shape;1290;p82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Ethics</a:t>
            </a:r>
            <a:endParaRPr/>
          </a:p>
        </p:txBody>
      </p:sp>
      <p:sp>
        <p:nvSpPr>
          <p:cNvPr id="1291" name="Google Shape;1291;p8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292" name="Google Shape;1292;p8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293" name="Google Shape;1293;p8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294" name="Google Shape;1294;p82"/>
          <p:cNvSpPr txBox="1"/>
          <p:nvPr>
            <p:ph idx="5" type="subTitle"/>
          </p:nvPr>
        </p:nvSpPr>
        <p:spPr>
          <a:xfrm>
            <a:off x="775" y="1663775"/>
            <a:ext cx="9143100" cy="3443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Voice cloning sits in a sensitive social spot. Examples like Deepfakes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Biggest risks for pipelines like these are impersonation or unauthorized voice use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Present confidently wrong live commentary as trustworthy analysis.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295" name="Google Shape;1295;p8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83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01" name="Google Shape;1301;p83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02" name="Google Shape;1302;p83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03" name="Google Shape;1303;p83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304" name="Google Shape;1304;p83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5" name="Google Shape;1305;p8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Ethics</a:t>
            </a:r>
            <a:endParaRPr/>
          </a:p>
        </p:txBody>
      </p:sp>
      <p:sp>
        <p:nvSpPr>
          <p:cNvPr id="1306" name="Google Shape;1306;p8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307" name="Google Shape;1307;p8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308" name="Google Shape;1308;p8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309" name="Google Shape;1309;p83"/>
          <p:cNvSpPr txBox="1"/>
          <p:nvPr>
            <p:ph idx="5" type="subTitle"/>
          </p:nvPr>
        </p:nvSpPr>
        <p:spPr>
          <a:xfrm>
            <a:off x="775" y="1663775"/>
            <a:ext cx="9143100" cy="3443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Voice cloning sits in a sensitive social spot. Examples like Deepfakes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Biggest risks for pipelines like these are impersonation or unauthorized voice use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Present confidently wrong live commentary as trustworthy analysis.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Strictly for academic purposes. Not hiding it’s all AI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310" name="Google Shape;1310;p8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8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16" name="Google Shape;1316;p8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17" name="Google Shape;1317;p8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18" name="Google Shape;1318;p84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319" name="Google Shape;1319;p84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0" name="Google Shape;1320;p84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Ethics</a:t>
            </a:r>
            <a:endParaRPr/>
          </a:p>
        </p:txBody>
      </p:sp>
      <p:sp>
        <p:nvSpPr>
          <p:cNvPr id="1321" name="Google Shape;1321;p8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322" name="Google Shape;1322;p8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323" name="Google Shape;1323;p8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324" name="Google Shape;1324;p84"/>
          <p:cNvSpPr txBox="1"/>
          <p:nvPr>
            <p:ph idx="5" type="subTitle"/>
          </p:nvPr>
        </p:nvSpPr>
        <p:spPr>
          <a:xfrm>
            <a:off x="775" y="1663775"/>
            <a:ext cx="9143100" cy="3443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What this project explores raises meaningful ethical issues because it combines live AI analysis, synthetic speech, and voice cloning in a way that can easily blur authorship, authority, and consent;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the biggest risks for pipelines like these are impersonation or unauthorized voice use, and confidently wrong live commentary presented as trustworthy analysis.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This project is strictly for academic purposes and not hiding the fact that it’s all AI from end-to-end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325" name="Google Shape;1325;p8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Post-Mortem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85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31" name="Google Shape;1331;p8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332" name="Google Shape;1332;p85"/>
          <p:cNvSpPr txBox="1"/>
          <p:nvPr>
            <p:ph idx="1" type="body"/>
          </p:nvPr>
        </p:nvSpPr>
        <p:spPr>
          <a:xfrm>
            <a:off x="4724375" y="3724950"/>
            <a:ext cx="1287900" cy="327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200"/>
              <a:t>LinkedIn:</a:t>
            </a:r>
            <a:endParaRPr sz="1200"/>
          </a:p>
        </p:txBody>
      </p:sp>
      <p:sp>
        <p:nvSpPr>
          <p:cNvPr id="1333" name="Google Shape;1333;p8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Danny Son</a:t>
            </a:r>
            <a:endParaRPr/>
          </a:p>
        </p:txBody>
      </p:sp>
      <p:sp>
        <p:nvSpPr>
          <p:cNvPr id="1334" name="Google Shape;1334;p85"/>
          <p:cNvSpPr txBox="1"/>
          <p:nvPr>
            <p:ph idx="3" type="subTitle"/>
          </p:nvPr>
        </p:nvSpPr>
        <p:spPr>
          <a:xfrm>
            <a:off x="5539500" y="372495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Contact</a:t>
            </a:r>
            <a:br>
              <a:rPr lang="en"/>
            </a:br>
            <a:r>
              <a:rPr lang="en"/>
              <a:t>2002dannyson@gmail.com</a:t>
            </a:r>
            <a:endParaRPr/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cxnSp>
        <p:nvCxnSpPr>
          <p:cNvPr id="1335" name="Google Shape;1335;p85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36" name="Google Shape;1336;p85" title="image_ba1c1991-3211-49cb-9b46-9ea15ec762aa20260326_035234.jpg"/>
          <p:cNvPicPr preferRelativeResize="0"/>
          <p:nvPr/>
        </p:nvPicPr>
        <p:blipFill rotWithShape="1">
          <a:blip r:embed="rId3">
            <a:alphaModFix/>
          </a:blip>
          <a:srcRect b="9460" l="23010" r="24311" t="41191"/>
          <a:stretch/>
        </p:blipFill>
        <p:spPr>
          <a:xfrm>
            <a:off x="5354025" y="3670188"/>
            <a:ext cx="1320350" cy="1291324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p85"/>
          <p:cNvSpPr txBox="1"/>
          <p:nvPr>
            <p:ph idx="1" type="body"/>
          </p:nvPr>
        </p:nvSpPr>
        <p:spPr>
          <a:xfrm>
            <a:off x="593700" y="3724956"/>
            <a:ext cx="3641700" cy="765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200"/>
              <a:t>Project Repo: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https://github.com/dannys0n/OpenCast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1338" name="Google Shape;1338;p85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2600" y="3671900"/>
            <a:ext cx="1287900" cy="12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86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44" name="Google Shape;1344;p86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1345" name="Google Shape;1345;p86"/>
          <p:cNvSpPr txBox="1"/>
          <p:nvPr>
            <p:ph idx="4294967295" type="title"/>
          </p:nvPr>
        </p:nvSpPr>
        <p:spPr>
          <a:xfrm>
            <a:off x="596525" y="1828147"/>
            <a:ext cx="82614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GSI sends live CS2 state into the system.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Raw state is filtered into a compact wrapper.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The text model generates short caster lines.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Lines are split into interruptible sentences.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A queue prioritizes live events over idle chatter.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TTS turns sentences into low-latency audio.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Prompting and voices keep the two casters distinct.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</p:txBody>
      </p:sp>
      <p:sp>
        <p:nvSpPr>
          <p:cNvPr id="1346" name="Google Shape;1346;p86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Pipeline detailed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8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52" name="Google Shape;1352;p87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1353" name="Google Shape;1353;p87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GSI &amp; Filtering</a:t>
            </a:r>
            <a:endParaRPr/>
          </a:p>
        </p:txBody>
      </p:sp>
      <p:sp>
        <p:nvSpPr>
          <p:cNvPr id="1354" name="Google Shape;1354;p87"/>
          <p:cNvSpPr txBox="1"/>
          <p:nvPr>
            <p:ph idx="4294967295" type="title"/>
          </p:nvPr>
        </p:nvSpPr>
        <p:spPr>
          <a:xfrm>
            <a:off x="596525" y="1828147"/>
            <a:ext cx="82614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Raw GSI is noisy and mode-dependent.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Filtering normalizes score, bomb, players, and events.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Spectator mode gives fuller round context.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Player POV uses local features like health, armor, and weapons.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The pipeline avoids inventing missing round state.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Tactical summaries compress pressure and risk signals.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Low-value prompts are filtered out early.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88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60" name="Google Shape;1360;p88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1361" name="Google Shape;1361;p88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TTS</a:t>
            </a:r>
            <a:endParaRPr/>
          </a:p>
        </p:txBody>
      </p:sp>
      <p:sp>
        <p:nvSpPr>
          <p:cNvPr id="1362" name="Google Shape;1362;p88"/>
          <p:cNvSpPr txBox="1"/>
          <p:nvPr>
            <p:ph idx="4294967295" type="title"/>
          </p:nvPr>
        </p:nvSpPr>
        <p:spPr>
          <a:xfrm>
            <a:off x="596525" y="1828147"/>
            <a:ext cx="82614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OmniVoice replaced the earlier TTS backend.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Two cloned voices represent the casters.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The system optimizes for low first-audio latency.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Playback is sentence-level and interruptible.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v5 prefetches the next sentence.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Stale prefetched audio can be cancelled.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Timing logs track text and TTS latency.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8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68" name="Google Shape;1368;p89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1369" name="Google Shape;1369;p89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Fine tuning</a:t>
            </a:r>
            <a:endParaRPr/>
          </a:p>
        </p:txBody>
      </p:sp>
      <p:sp>
        <p:nvSpPr>
          <p:cNvPr id="1370" name="Google Shape;1370;p89"/>
          <p:cNvSpPr txBox="1"/>
          <p:nvPr>
            <p:ph idx="4294967295" type="title"/>
          </p:nvPr>
        </p:nvSpPr>
        <p:spPr>
          <a:xfrm>
            <a:off x="596525" y="1828147"/>
            <a:ext cx="82614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Training inputs come from real structured match data.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Gold rows are hand-tuned for quality.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Separate styles cover events, color, and conversation.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Synthetic data uses real inputs plus gold few-shots.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Outputs stay in a simple structured lines format.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Validation checks JSON shape and line counts.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nken Grotesk Light"/>
              <a:buChar char="●"/>
            </a:pPr>
            <a:r>
              <a:rPr lang="en" sz="1500">
                <a:latin typeface="Hanken Grotesk Light"/>
                <a:ea typeface="Hanken Grotesk Light"/>
                <a:cs typeface="Hanken Grotesk Light"/>
                <a:sym typeface="Hanken Grotesk Light"/>
              </a:rPr>
              <a:t>Fine-tuning improves grounding, not just style.</a:t>
            </a:r>
            <a:endParaRPr sz="1500">
              <a:latin typeface="Hanken Grotesk Light"/>
              <a:ea typeface="Hanken Grotesk Light"/>
              <a:cs typeface="Hanken Grotesk Light"/>
              <a:sym typeface="Hanken Grotesk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